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1B4B"/>
          </a:solidFill>
          <a:ln>
            <a:solidFill>
              <a:srgbClr val="1E1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EduGenie</a:t>
            </a:r>
          </a:p>
          <a:p>
            <a:pPr>
              <a:defRPr sz="1300">
                <a:solidFill>
                  <a:srgbClr val="C7D2FE"/>
                </a:solidFill>
              </a:defRPr>
            </a:pPr>
            <a:r>
              <a:t>Google Gemini Powered Intelligent Learning Assistant</a:t>
            </a:r>
            <a:br/>
            <a:r>
              <a:t>Final Capstone &amp; Internship Project Presentation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828800"/>
            <a:ext cx="941832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286000"/>
            <a:ext cx="85039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0"/>
              </a:spcAft>
              <a:defRPr sz="1800" b="1">
                <a:solidFill>
                  <a:srgbClr val="1E1B4B"/>
                </a:solidFill>
              </a:defRPr>
            </a:pPr>
            <a:r>
              <a:t>Author / Presenter: Technical Intern</a:t>
            </a:r>
          </a:p>
          <a:p>
            <a:pPr>
              <a:spcAft>
                <a:spcPts val="2000"/>
              </a:spcAft>
              <a:defRPr sz="1800" b="1">
                <a:solidFill>
                  <a:srgbClr val="1E1B4B"/>
                </a:solidFill>
              </a:defRPr>
            </a:pPr>
            <a:r>
              <a:t>Technology Stack: FastAPI • Google Gemini • Vanilla JS • Pytest</a:t>
            </a:r>
          </a:p>
          <a:p>
            <a:pPr>
              <a:spcAft>
                <a:spcPts val="2000"/>
              </a:spcAft>
              <a:defRPr sz="1800" b="1">
                <a:solidFill>
                  <a:srgbClr val="1E1B4B"/>
                </a:solidFill>
              </a:defRPr>
            </a:pPr>
            <a:r>
              <a:t>Date: September 24,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1B4B"/>
          </a:solidFill>
          <a:ln>
            <a:solidFill>
              <a:srgbClr val="1E1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1. Problem Statement &amp; Motivation</a:t>
            </a:r>
          </a:p>
          <a:p>
            <a:pPr>
              <a:defRPr sz="1300">
                <a:solidFill>
                  <a:srgbClr val="C7D2FE"/>
                </a:solidFill>
              </a:defRPr>
            </a:pPr>
            <a:r>
              <a:t>Addressing Fundamental Gaps in Digital Learning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69848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10149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50">
                <a:solidFill>
                  <a:srgbClr val="0F172A"/>
                </a:solidFill>
              </a:defRPr>
            </a:pPr>
            <a:r>
              <a:t>•  Information Overload: Students struggle with overly dense textbooks and technical jargon.</a:t>
            </a:r>
          </a:p>
          <a:p>
            <a:pPr>
              <a:spcAft>
                <a:spcPts val="1200"/>
              </a:spcAft>
              <a:defRPr sz="1350">
                <a:solidFill>
                  <a:srgbClr val="0F172A"/>
                </a:solidFill>
              </a:defRPr>
            </a:pPr>
            <a:r>
              <a:t>•  Lack of Immediate Personalized Tutoring: Learners cannot easily clarify foundational doubts 24/7.</a:t>
            </a:r>
          </a:p>
          <a:p>
            <a:pPr>
              <a:spcAft>
                <a:spcPts val="1200"/>
              </a:spcAft>
              <a:defRPr sz="1350">
                <a:solidFill>
                  <a:srgbClr val="0F172A"/>
                </a:solidFill>
              </a:defRPr>
            </a:pPr>
            <a:r>
              <a:t>•  Passive vs. Active Recall: Most platforms offer static reading without immediate comprehension testing.</a:t>
            </a:r>
          </a:p>
          <a:p>
            <a:pPr>
              <a:spcAft>
                <a:spcPts val="1200"/>
              </a:spcAft>
              <a:defRPr sz="1350">
                <a:solidFill>
                  <a:srgbClr val="0F172A"/>
                </a:solidFill>
              </a:defRPr>
            </a:pPr>
            <a:r>
              <a:t>•  Cloud API Fragility: Cloud-only tools crash or fail when API quotas, rate limits, or network drops occur.</a:t>
            </a:r>
          </a:p>
          <a:p>
            <a:pPr>
              <a:spcAft>
                <a:spcPts val="1200"/>
              </a:spcAft>
              <a:defRPr sz="1350">
                <a:solidFill>
                  <a:srgbClr val="0F172A"/>
                </a:solidFill>
              </a:defRPr>
            </a:pPr>
            <a:r>
              <a:t>•  The Need: A lightweight, fault-tolerant educational assistant bridging cloud intelligence with local determinism.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1B4B"/>
          </a:solidFill>
          <a:ln>
            <a:solidFill>
              <a:srgbClr val="1E1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2. Proposed Solution: EduGenie</a:t>
            </a:r>
          </a:p>
          <a:p>
            <a:pPr>
              <a:defRPr sz="1300">
                <a:solidFill>
                  <a:srgbClr val="C7D2FE"/>
                </a:solidFill>
              </a:defRPr>
            </a:pPr>
            <a:r>
              <a:t>An Intelligent, Modular, and Fault-Tolerant Learning Companion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69848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10149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50">
                <a:solidFill>
                  <a:srgbClr val="0F172A"/>
                </a:solidFill>
              </a:defRPr>
            </a:pPr>
            <a:r>
              <a:t>•  Smart Q&amp;A: Instant, concise factual answers for academic queries.</a:t>
            </a:r>
          </a:p>
          <a:p>
            <a:pPr>
              <a:spcAft>
                <a:spcPts val="1200"/>
              </a:spcAft>
              <a:defRPr sz="1350">
                <a:solidFill>
                  <a:srgbClr val="0F172A"/>
                </a:solidFill>
              </a:defRPr>
            </a:pPr>
            <a:r>
              <a:t>•  Concept Simplification: Complex science and algorithms simplified with relatable real-world analogies.</a:t>
            </a:r>
          </a:p>
          <a:p>
            <a:pPr>
              <a:spcAft>
                <a:spcPts val="1200"/>
              </a:spcAft>
              <a:defRPr sz="1350">
                <a:solidFill>
                  <a:srgbClr val="0F172A"/>
                </a:solidFill>
              </a:defRPr>
            </a:pPr>
            <a:r>
              <a:t>•  Passage Summarizer: High-yield executive revision notes extracted from dense text.</a:t>
            </a:r>
          </a:p>
          <a:p>
            <a:pPr>
              <a:spcAft>
                <a:spcPts val="1200"/>
              </a:spcAft>
              <a:defRPr sz="1350">
                <a:solidFill>
                  <a:srgbClr val="0F172A"/>
                </a:solidFill>
              </a:defRPr>
            </a:pPr>
            <a:r>
              <a:t>•  Interactive Quiz Engine: 3 multiple-choice questions with real-time browser grading and score tracking.</a:t>
            </a:r>
          </a:p>
          <a:p>
            <a:pPr>
              <a:spcAft>
                <a:spcPts val="1200"/>
              </a:spcAft>
              <a:defRPr sz="1350">
                <a:solidFill>
                  <a:srgbClr val="0F172A"/>
                </a:solidFill>
              </a:defRPr>
            </a:pPr>
            <a:r>
              <a:t>•  Career &amp; Learning Roadmaps: Beginner-to-advanced curriculum guides with timelines and curated resources.</a:t>
            </a:r>
          </a:p>
          <a:p>
            <a:pPr>
              <a:spcAft>
                <a:spcPts val="1200"/>
              </a:spcAft>
              <a:defRPr sz="1350">
                <a:solidFill>
                  <a:srgbClr val="0F172A"/>
                </a:solidFill>
              </a:defRPr>
            </a:pPr>
            <a:r>
              <a:t>•  Zero-Downtime Guarantee: Built-in deterministic offline generators and health monitoring.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1B4B"/>
          </a:solidFill>
          <a:ln>
            <a:solidFill>
              <a:srgbClr val="1E1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3. System Architecture &amp; Tech Stack</a:t>
            </a:r>
          </a:p>
          <a:p>
            <a:pPr>
              <a:defRPr sz="1300">
                <a:solidFill>
                  <a:srgbClr val="C7D2FE"/>
                </a:solidFill>
              </a:defRPr>
            </a:pPr>
            <a:r>
              <a:t>Three-Tier High-Performance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69848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10149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50">
                <a:solidFill>
                  <a:srgbClr val="0F172A"/>
                </a:solidFill>
              </a:defRPr>
            </a:pPr>
            <a:r>
              <a:t>•  Frontend Tier: Pure HTML5, Modern CSS (Glassmorphism), Vanilla JS (Zero heavy bundle overhead).</a:t>
            </a:r>
          </a:p>
          <a:p>
            <a:pPr>
              <a:spcAft>
                <a:spcPts val="1200"/>
              </a:spcAft>
              <a:defRPr sz="1350">
                <a:solidFill>
                  <a:srgbClr val="0F172A"/>
                </a:solidFill>
              </a:defRPr>
            </a:pPr>
            <a:r>
              <a:t>•  Backend Tier: FastAPI ASGI framework running on Uvicorn (port 8000), Pydantic schema validation.</a:t>
            </a:r>
          </a:p>
          <a:p>
            <a:pPr>
              <a:spcAft>
                <a:spcPts val="1200"/>
              </a:spcAft>
              <a:defRPr sz="1350">
                <a:solidFill>
                  <a:srgbClr val="0F172A"/>
                </a:solidFill>
              </a:defRPr>
            </a:pPr>
            <a:r>
              <a:t>•  Cloud AI Tier: Google Gemini API (gemini-1.5-flash &amp; gemini-1.5-pro) via official Google GenAI SDK.</a:t>
            </a:r>
          </a:p>
          <a:p>
            <a:pPr>
              <a:spcAft>
                <a:spcPts val="1200"/>
              </a:spcAft>
              <a:defRPr sz="1350">
                <a:solidFill>
                  <a:srgbClr val="0F172A"/>
                </a:solidFill>
              </a:defRPr>
            </a:pPr>
            <a:r>
              <a:t>•  Local AI Tier: HuggingFace Transformers support for MBZUAI/LaMini-Flan-T5-783M CPU inference.</a:t>
            </a:r>
          </a:p>
          <a:p>
            <a:pPr>
              <a:spcAft>
                <a:spcPts val="1200"/>
              </a:spcAft>
              <a:defRPr sz="1350">
                <a:solidFill>
                  <a:srgbClr val="0F172A"/>
                </a:solidFill>
              </a:defRPr>
            </a:pPr>
            <a:r>
              <a:t>•  Fallback Tier: Deterministic offline knowledge corpus ensuring complete offline functionality.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1B4B"/>
          </a:solidFill>
          <a:ln>
            <a:solidFill>
              <a:srgbClr val="1E1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4. Core Modules &amp; Endpoints</a:t>
            </a:r>
          </a:p>
          <a:p>
            <a:pPr>
              <a:defRPr sz="1300">
                <a:solidFill>
                  <a:srgbClr val="C7D2FE"/>
                </a:solidFill>
              </a:defRPr>
            </a:pPr>
            <a:r>
              <a:t>Modular Endpoint Design and Purpose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69848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10149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50">
                <a:solidFill>
                  <a:srgbClr val="0F172A"/>
                </a:solidFill>
              </a:defRPr>
            </a:pPr>
            <a:r>
              <a:t>•  GET /qa?question= : Answers general knowledge &amp; academic questions with precise facts.</a:t>
            </a:r>
          </a:p>
          <a:p>
            <a:pPr>
              <a:spcAft>
                <a:spcPts val="1200"/>
              </a:spcAft>
              <a:defRPr sz="1350">
                <a:solidFill>
                  <a:srgbClr val="0F172A"/>
                </a:solidFill>
              </a:defRPr>
            </a:pPr>
            <a:r>
              <a:t>•  POST /explain : Deconstructs topics with student analogies (Supports cloud Gemini or local LaMini).</a:t>
            </a:r>
          </a:p>
          <a:p>
            <a:pPr>
              <a:spcAft>
                <a:spcPts val="1200"/>
              </a:spcAft>
              <a:defRPr sz="1350">
                <a:solidFill>
                  <a:srgbClr val="0F172A"/>
                </a:solidFill>
              </a:defRPr>
            </a:pPr>
            <a:r>
              <a:t>•  POST /summarize : Condenses lengthy textbooks into 4 high-yield bullet takeaways.</a:t>
            </a:r>
          </a:p>
          <a:p>
            <a:pPr>
              <a:spcAft>
                <a:spcPts val="1200"/>
              </a:spcAft>
              <a:defRPr sz="1350">
                <a:solidFill>
                  <a:srgbClr val="0F172A"/>
                </a:solidFill>
              </a:defRPr>
            </a:pPr>
            <a:r>
              <a:t>•  POST /quiz : Generates strictly validated 3-MCQ JSON schema with 4 options and exact answer matching.</a:t>
            </a:r>
          </a:p>
          <a:p>
            <a:pPr>
              <a:spcAft>
                <a:spcPts val="1200"/>
              </a:spcAft>
              <a:defRPr sz="1350">
                <a:solidFill>
                  <a:srgbClr val="0F172A"/>
                </a:solidFill>
              </a:defRPr>
            </a:pPr>
            <a:r>
              <a:t>•  GET /learn/recommendations : Outputs milestone roadmaps with estimated hours and curated links.</a:t>
            </a:r>
          </a:p>
          <a:p>
            <a:pPr>
              <a:spcAft>
                <a:spcPts val="1200"/>
              </a:spcAft>
              <a:defRPr sz="1350">
                <a:solidFill>
                  <a:srgbClr val="0F172A"/>
                </a:solidFill>
              </a:defRPr>
            </a:pPr>
            <a:r>
              <a:t>•  GET /health : Dynamic system health check and active mode resolution (Demo vs. Live).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1B4B"/>
          </a:solidFill>
          <a:ln>
            <a:solidFill>
              <a:srgbClr val="1E1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5. Interactive Quiz &amp; Automated Grader</a:t>
            </a:r>
          </a:p>
          <a:p>
            <a:pPr>
              <a:defRPr sz="1300">
                <a:solidFill>
                  <a:srgbClr val="C7D2FE"/>
                </a:solidFill>
              </a:defRPr>
            </a:pPr>
            <a:r>
              <a:t>Pedagogical Active Recall with Immediate Feedback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69848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10149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50">
                <a:solidFill>
                  <a:srgbClr val="0F172A"/>
                </a:solidFill>
              </a:defRPr>
            </a:pPr>
            <a:r>
              <a:t>•  3 Targeted MCQs: Distractors are carefully crafted to test actual conceptual comprehension.</a:t>
            </a:r>
          </a:p>
          <a:p>
            <a:pPr>
              <a:spcAft>
                <a:spcPts val="1200"/>
              </a:spcAft>
              <a:defRPr sz="1350">
                <a:solidFill>
                  <a:srgbClr val="0F172A"/>
                </a:solidFill>
              </a:defRPr>
            </a:pPr>
            <a:r>
              <a:t>•  Schema Rigor: Custom JSON fence stripper and 2-pass schema validator prevent malformed outputs.</a:t>
            </a:r>
          </a:p>
          <a:p>
            <a:pPr>
              <a:spcAft>
                <a:spcPts val="1200"/>
              </a:spcAft>
              <a:defRPr sz="1350">
                <a:solidFill>
                  <a:srgbClr val="0F172A"/>
                </a:solidFill>
              </a:defRPr>
            </a:pPr>
            <a:r>
              <a:t>•  Client-Side Grader: Instant visual feedback with emerald green for correct and crimson red for mistakes.</a:t>
            </a:r>
          </a:p>
          <a:p>
            <a:pPr>
              <a:spcAft>
                <a:spcPts val="1200"/>
              </a:spcAft>
              <a:defRPr sz="1350">
                <a:solidFill>
                  <a:srgbClr val="0F172A"/>
                </a:solidFill>
              </a:defRPr>
            </a:pPr>
            <a:r>
              <a:t>•  Mistake Revelation: Clearly shows the exact correct answer formula when a wrong choice is made.</a:t>
            </a:r>
          </a:p>
          <a:p>
            <a:pPr>
              <a:spcAft>
                <a:spcPts val="1200"/>
              </a:spcAft>
              <a:defRPr sz="1350">
                <a:solidFill>
                  <a:srgbClr val="0F172A"/>
                </a:solidFill>
              </a:defRPr>
            </a:pPr>
            <a:r>
              <a:t>•  Score Banner: Calculates percentage score (e.g. 2/3 - 66.7%) and provides motivational pedagogical guidance.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1B4B"/>
          </a:solidFill>
          <a:ln>
            <a:solidFill>
              <a:srgbClr val="1E1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6. Live Demo Scenarios &amp; Screenshots</a:t>
            </a:r>
          </a:p>
          <a:p>
            <a:pPr>
              <a:defRPr sz="1300">
                <a:solidFill>
                  <a:srgbClr val="C7D2FE"/>
                </a:solidFill>
              </a:defRPr>
            </a:pPr>
            <a:r>
              <a:t>Verified End-to-End Execution of Spec Scenarios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30352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50">
                <a:solidFill>
                  <a:srgbClr val="0F172A"/>
                </a:solidFill>
              </a:defRPr>
            </a:pPr>
            <a:r>
              <a:t>•  Scenario 1: 'Which is the largest ocean?' -&gt; Pacific Ocean response verified.</a:t>
            </a:r>
          </a:p>
          <a:p>
            <a:pPr>
              <a:spcAft>
                <a:spcPts val="1200"/>
              </a:spcAft>
              <a:defRPr sz="1350">
                <a:solidFill>
                  <a:srgbClr val="0F172A"/>
                </a:solidFill>
              </a:defRPr>
            </a:pPr>
            <a:r>
              <a:t>•  Scenario 2: 'quantum computing' &amp; 'binary search' -&gt; Qubits &amp; Phonebook analogies verified.</a:t>
            </a:r>
          </a:p>
          <a:p>
            <a:pPr>
              <a:spcAft>
                <a:spcPts val="1200"/>
              </a:spcAft>
              <a:defRPr sz="1350">
                <a:solidFill>
                  <a:srgbClr val="0F172A"/>
                </a:solidFill>
              </a:defRPr>
            </a:pPr>
            <a:r>
              <a:t>•  Scenario 3: Industrial Revolution summary -&gt; 4 bullet takeaways verified.</a:t>
            </a:r>
          </a:p>
          <a:p>
            <a:pPr>
              <a:spcAft>
                <a:spcPts val="1200"/>
              </a:spcAft>
              <a:defRPr sz="1350">
                <a:solidFill>
                  <a:srgbClr val="0F172A"/>
                </a:solidFill>
              </a:defRPr>
            </a:pPr>
            <a:r>
              <a:t>•  Scenario 4: Pythagoras quiz -&gt; Grader scored 2/3 with green/red highlights.</a:t>
            </a:r>
          </a:p>
          <a:p>
            <a:pPr>
              <a:spcAft>
                <a:spcPts val="1200"/>
              </a:spcAft>
              <a:defRPr sz="1350">
                <a:solidFill>
                  <a:srgbClr val="0F172A"/>
                </a:solidFill>
              </a:defRPr>
            </a:pPr>
            <a:r>
              <a:t>•  Scenario 5: SQL Roadmap -&gt; 3-stage milestone path with interactive links verified.</a:t>
            </a:r>
          </a:p>
        </p:txBody>
      </p:sp>
      <p:pic>
        <p:nvPicPr>
          <p:cNvPr id="7" name="Picture 6" descr="02_qa_largest_oc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463040"/>
            <a:ext cx="5120640" cy="287895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1B4B"/>
          </a:solidFill>
          <a:ln>
            <a:solidFill>
              <a:srgbClr val="1E1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7. Automated Testing &amp; Verification</a:t>
            </a:r>
          </a:p>
          <a:p>
            <a:pPr>
              <a:defRPr sz="1300">
                <a:solidFill>
                  <a:srgbClr val="C7D2FE"/>
                </a:solidFill>
              </a:defRPr>
            </a:pPr>
            <a:r>
              <a:t>37 Passing Tests • 100% Pass Rate • 80% Code Coverage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69848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10149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50">
                <a:solidFill>
                  <a:srgbClr val="0F172A"/>
                </a:solidFill>
              </a:defRPr>
            </a:pPr>
            <a:r>
              <a:t>•  Pytest Suite: 37 comprehensive test cases across API routes, modules, schema validation, and edge cases.</a:t>
            </a:r>
          </a:p>
          <a:p>
            <a:pPr>
              <a:spcAft>
                <a:spcPts val="1200"/>
              </a:spcAft>
              <a:defRPr sz="1350">
                <a:solidFill>
                  <a:srgbClr val="0F172A"/>
                </a:solidFill>
              </a:defRPr>
            </a:pPr>
            <a:r>
              <a:t>•  AI Failure Fallbacks: Simulated API 429 rate limits, timeouts, connection drops, and invalid JSON generation.</a:t>
            </a:r>
          </a:p>
          <a:p>
            <a:pPr>
              <a:spcAft>
                <a:spcPts val="1200"/>
              </a:spcAft>
              <a:defRPr sz="1350">
                <a:solidFill>
                  <a:srgbClr val="0F172A"/>
                </a:solidFill>
              </a:defRPr>
            </a:pPr>
            <a:r>
              <a:t>•  Input Boundary Testing: Empty string interception, sub-5-character validation, and unicode resilience.</a:t>
            </a:r>
          </a:p>
          <a:p>
            <a:pPr>
              <a:spcAft>
                <a:spcPts val="1200"/>
              </a:spcAft>
              <a:defRPr sz="1350">
                <a:solidFill>
                  <a:srgbClr val="0F172A"/>
                </a:solidFill>
              </a:defRPr>
            </a:pPr>
            <a:r>
              <a:t>•  Cross-Device Testing: Automated Playwright execution across Desktop (1366x768) and Mobile (390x844).</a:t>
            </a:r>
          </a:p>
          <a:p>
            <a:pPr>
              <a:spcAft>
                <a:spcPts val="1200"/>
              </a:spcAft>
              <a:defRPr sz="1350">
                <a:solidFill>
                  <a:srgbClr val="0F172A"/>
                </a:solidFill>
              </a:defRPr>
            </a:pPr>
            <a:r>
              <a:t>•  Real Evidence: All terminal logs and test reports saved to docs/evidence/.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1B4B"/>
          </a:solidFill>
          <a:ln>
            <a:solidFill>
              <a:srgbClr val="1E1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8. Engineering Challenges &amp; Solutions</a:t>
            </a:r>
          </a:p>
          <a:p>
            <a:pPr>
              <a:defRPr sz="1300">
                <a:solidFill>
                  <a:srgbClr val="C7D2FE"/>
                </a:solidFill>
              </a:defRPr>
            </a:pPr>
            <a:r>
              <a:t>Key Technical Hurdles Overcome During Development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69848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10149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50">
                <a:solidFill>
                  <a:srgbClr val="0F172A"/>
                </a:solidFill>
              </a:defRPr>
            </a:pPr>
            <a:r>
              <a:t>•  1. Model Output Schema Inconsistency: Implemented clean_json_block and 2-attempt validation fallback.</a:t>
            </a:r>
          </a:p>
          <a:p>
            <a:pPr>
              <a:spcAft>
                <a:spcPts val="1200"/>
              </a:spcAft>
              <a:defRPr sz="1350">
                <a:solidFill>
                  <a:srgbClr val="0F172A"/>
                </a:solidFill>
              </a:defRPr>
            </a:pPr>
            <a:r>
              <a:t>•  2. Rate Limiting &amp; Offline Reliability: Built deterministic offline generator for 100% demo uptime.</a:t>
            </a:r>
          </a:p>
          <a:p>
            <a:pPr>
              <a:spcAft>
                <a:spcPts val="1200"/>
              </a:spcAft>
              <a:defRPr sz="1350">
                <a:solidFill>
                  <a:srgbClr val="0F172A"/>
                </a:solidFill>
              </a:defRPr>
            </a:pPr>
            <a:r>
              <a:t>•  3. Heavy Local Model Footprint: Added configurable EXPLAIN_BACKEND=local|gemini with CPU safeguards.</a:t>
            </a:r>
          </a:p>
          <a:p>
            <a:pPr>
              <a:spcAft>
                <a:spcPts val="1200"/>
              </a:spcAft>
              <a:defRPr sz="1350">
                <a:solidFill>
                  <a:srgbClr val="0F172A"/>
                </a:solidFill>
              </a:defRPr>
            </a:pPr>
            <a:r>
              <a:t>•  4. Quiz Answer Index vs String Mismatch: Enforced strict exact string matching in quiz validator.</a:t>
            </a:r>
          </a:p>
          <a:p>
            <a:pPr>
              <a:spcAft>
                <a:spcPts val="1200"/>
              </a:spcAft>
              <a:defRPr sz="1350">
                <a:solidFill>
                  <a:srgbClr val="0F172A"/>
                </a:solidFill>
              </a:defRPr>
            </a:pPr>
            <a:r>
              <a:t>•  5. Modern Starlette TemplateResponse Syntax: Aligned context parameter signature with Starlette 1.7+.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1B4B"/>
          </a:solidFill>
          <a:ln>
            <a:solidFill>
              <a:srgbClr val="1E1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9. Limitations &amp; Future Roadmap</a:t>
            </a:r>
          </a:p>
          <a:p>
            <a:pPr>
              <a:defRPr sz="1300">
                <a:solidFill>
                  <a:srgbClr val="C7D2FE"/>
                </a:solidFill>
              </a:defRPr>
            </a:pPr>
            <a:r>
              <a:t>Pathways for Scaling and Expanding EduGenie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69848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10149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50">
                <a:solidFill>
                  <a:srgbClr val="0F172A"/>
                </a:solidFill>
              </a:defRPr>
            </a:pPr>
            <a:r>
              <a:t>•  Current Limitations: Stateless REST sessions, offline corpus covers curated domains, single-language English.</a:t>
            </a:r>
          </a:p>
          <a:p>
            <a:pPr>
              <a:spcAft>
                <a:spcPts val="1200"/>
              </a:spcAft>
              <a:defRPr sz="1350">
                <a:solidFill>
                  <a:srgbClr val="0F172A"/>
                </a:solidFill>
              </a:defRPr>
            </a:pPr>
            <a:r>
              <a:t>•  Enhancement 1: Multi-turn Chatbot Memory with SQLite / PostgreSQL persistence.</a:t>
            </a:r>
          </a:p>
          <a:p>
            <a:pPr>
              <a:spcAft>
                <a:spcPts val="1200"/>
              </a:spcAft>
              <a:defRPr sz="1350">
                <a:solidFill>
                  <a:srgbClr val="0F172A"/>
                </a:solidFill>
              </a:defRPr>
            </a:pPr>
            <a:r>
              <a:t>•  Enhancement 2: Multilingual Translation across Spanish, Hindi, French, and Mandarin.</a:t>
            </a:r>
          </a:p>
          <a:p>
            <a:pPr>
              <a:spcAft>
                <a:spcPts val="1200"/>
              </a:spcAft>
              <a:defRPr sz="1350">
                <a:solidFill>
                  <a:srgbClr val="0F172A"/>
                </a:solidFill>
              </a:defRPr>
            </a:pPr>
            <a:r>
              <a:t>•  Enhancement 3: Voice Interaction (Speech-to-Text query input &amp; Text-to-Speech audio explanations).</a:t>
            </a:r>
          </a:p>
          <a:p>
            <a:pPr>
              <a:spcAft>
                <a:spcPts val="1200"/>
              </a:spcAft>
              <a:defRPr sz="1350">
                <a:solidFill>
                  <a:srgbClr val="0F172A"/>
                </a:solidFill>
              </a:defRPr>
            </a:pPr>
            <a:r>
              <a:t>•  Enhancement 4: PDF &amp; Document Upload for automated exam paper generation from custom syllabi.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1B4B"/>
          </a:solidFill>
          <a:ln>
            <a:solidFill>
              <a:srgbClr val="1E1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10. Conclusion &amp; Q&amp;A</a:t>
            </a:r>
          </a:p>
          <a:p>
            <a:pPr>
              <a:defRPr sz="1300">
                <a:solidFill>
                  <a:srgbClr val="C7D2FE"/>
                </a:solidFill>
              </a:defRPr>
            </a:pPr>
            <a:r>
              <a:t>Thank You! Ready for Questions &amp; Viva Voce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69848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10149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50">
                <a:solidFill>
                  <a:srgbClr val="0F172A"/>
                </a:solidFill>
              </a:defRPr>
            </a:pPr>
            <a:r>
              <a:t>•  EduGenie successfully democratizes personalized AI education with lightweight, robust architecture.</a:t>
            </a:r>
          </a:p>
          <a:p>
            <a:pPr>
              <a:spcAft>
                <a:spcPts val="1200"/>
              </a:spcAft>
              <a:defRPr sz="1350">
                <a:solidFill>
                  <a:srgbClr val="0F172A"/>
                </a:solidFill>
              </a:defRPr>
            </a:pPr>
            <a:r>
              <a:t>•  100% Verified Deliverables: Working FastAPI backend, 37 passing tests, real screenshots, and 2 video walkthroughs.</a:t>
            </a:r>
          </a:p>
          <a:p>
            <a:pPr>
              <a:spcAft>
                <a:spcPts val="1200"/>
              </a:spcAft>
              <a:defRPr sz="1350">
                <a:solidFill>
                  <a:srgbClr val="0F172A"/>
                </a:solidFill>
              </a:defRPr>
            </a:pPr>
            <a:r>
              <a:t>•  Links: media/Demo_Video.mp4 • media/Testing_Video.mp4 • docs/evidence/</a:t>
            </a:r>
          </a:p>
          <a:p>
            <a:pPr>
              <a:spcAft>
                <a:spcPts val="1200"/>
              </a:spcAft>
              <a:defRPr sz="1350">
                <a:solidFill>
                  <a:srgbClr val="0F172A"/>
                </a:solidFill>
              </a:defRPr>
            </a:pPr>
            <a:r>
              <a:t>•  Open for Technical Viva &amp; Demonstration!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