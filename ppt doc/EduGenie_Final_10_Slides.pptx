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2C2E"/>
        </a:solidFill>
      </p:bgPr>
    </p:bg>
    <p:spTree>
      <p:nvGrpSpPr>
        <p:cNvPr id="1" name=""/>
        <p:cNvGrpSpPr/>
        <p:nvPr/>
      </p:nvGrpSpPr>
      <p:grpSpPr>
        <a:xfrm>
          <a:off x="0" y="0"/>
          <a:ext cx="0" cy="0"/>
          <a:chOff x="0" y="0"/>
          <a:chExt cx="0" cy="0"/>
        </a:xfrm>
      </p:grpSpPr>
      <p:sp>
        <p:nvSpPr>
          <p:cNvPr id="2" name="Text 0"/>
          <p:cNvSpPr txBox="1"/>
          <p:nvPr/>
        </p:nvSpPr>
        <p:spPr>
          <a:xfrm>
            <a:off x="457200" y="1828800"/>
            <a:ext cx="8229600" cy="1188720"/>
          </a:xfrm>
          <a:prstGeom prst="rect">
            <a:avLst/>
          </a:prstGeom>
          <a:noFill/>
          <a:ln/>
        </p:spPr>
        <p:txBody>
          <a:bodyPr wrap="square" rtlCol="0" anchor="ctr"/>
          <a:lstStyle/>
          <a:p>
            <a:pPr algn="ctr" indent="0" marL="0">
              <a:buNone/>
            </a:pPr>
            <a:r>
              <a:rPr lang="en-US" sz="6000" b="1" dirty="0">
                <a:solidFill>
                  <a:srgbClr val="FFFFFF"/>
                </a:solidFill>
                <a:latin typeface="Georgia" pitchFamily="34" charset="0"/>
                <a:ea typeface="Georgia" pitchFamily="34" charset="-122"/>
                <a:cs typeface="Georgia" pitchFamily="34" charset="-120"/>
              </a:rPr>
              <a:t>WELCOME</a:t>
            </a:r>
            <a:endParaRPr lang="en-US"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33638"/>
        </a:solidFill>
      </p:bgPr>
    </p:bg>
    <p:spTree>
      <p:nvGrpSpPr>
        <p:cNvPr id="1" name=""/>
        <p:cNvGrpSpPr/>
        <p:nvPr/>
      </p:nvGrpSpPr>
      <p:grpSpPr>
        <a:xfrm>
          <a:off x="0" y="0"/>
          <a:ext cx="0" cy="0"/>
          <a:chOff x="0" y="0"/>
          <a:chExt cx="0" cy="0"/>
        </a:xfrm>
      </p:grpSpPr>
      <p:sp>
        <p:nvSpPr>
          <p:cNvPr id="2" name="Shape 0"/>
          <p:cNvSpPr/>
          <p:nvPr/>
        </p:nvSpPr>
        <p:spPr>
          <a:xfrm>
            <a:off x="6400800" y="-2194560"/>
            <a:ext cx="4206240" cy="4206240"/>
          </a:xfrm>
          <a:prstGeom prst="ellipse">
            <a:avLst/>
          </a:prstGeom>
          <a:solidFill>
            <a:srgbClr val="00515C"/>
          </a:solidFill>
          <a:ln w="12700">
            <a:solidFill>
              <a:srgbClr val="00515C"/>
            </a:solidFill>
            <a:prstDash val="solid"/>
          </a:ln>
        </p:spPr>
      </p:sp>
      <p:sp>
        <p:nvSpPr>
          <p:cNvPr id="3" name="Shape 1"/>
          <p:cNvSpPr/>
          <p:nvPr/>
        </p:nvSpPr>
        <p:spPr>
          <a:xfrm>
            <a:off x="-1188720" y="3566160"/>
            <a:ext cx="2377440" cy="2377440"/>
          </a:xfrm>
          <a:prstGeom prst="ellipse">
            <a:avLst/>
          </a:prstGeom>
          <a:solidFill>
            <a:srgbClr val="00605A"/>
          </a:solidFill>
          <a:ln w="12700">
            <a:solidFill>
              <a:srgbClr val="00605A"/>
            </a:solidFill>
            <a:prstDash val="solid"/>
          </a:ln>
        </p:spPr>
      </p:sp>
      <p:sp>
        <p:nvSpPr>
          <p:cNvPr id="4" name="Text 2"/>
          <p:cNvSpPr txBox="1"/>
          <p:nvPr/>
        </p:nvSpPr>
        <p:spPr>
          <a:xfrm>
            <a:off x="548640" y="914400"/>
            <a:ext cx="6400800" cy="82296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EduGenie</a:t>
            </a:r>
            <a:endParaRPr lang="en-US" sz="4400" dirty="0"/>
          </a:p>
        </p:txBody>
      </p:sp>
      <p:sp>
        <p:nvSpPr>
          <p:cNvPr id="5" name="Text 3"/>
          <p:cNvSpPr txBox="1"/>
          <p:nvPr/>
        </p:nvSpPr>
        <p:spPr>
          <a:xfrm>
            <a:off x="548640" y="1783080"/>
            <a:ext cx="6400800" cy="411480"/>
          </a:xfrm>
          <a:prstGeom prst="rect">
            <a:avLst/>
          </a:prstGeom>
          <a:noFill/>
          <a:ln/>
        </p:spPr>
        <p:txBody>
          <a:bodyPr wrap="square" lIns="0" tIns="0" rIns="0" bIns="0" rtlCol="0" anchor="ctr"/>
          <a:lstStyle/>
          <a:p>
            <a:pPr indent="0" marL="0">
              <a:buNone/>
            </a:pPr>
            <a:r>
              <a:rPr lang="en-US" sz="1800" i="1" dirty="0">
                <a:solidFill>
                  <a:srgbClr val="1FD1A5"/>
                </a:solidFill>
                <a:latin typeface="Calibri" pitchFamily="34" charset="0"/>
                <a:ea typeface="Calibri" pitchFamily="34" charset="-122"/>
                <a:cs typeface="Calibri" pitchFamily="34" charset="-120"/>
              </a:rPr>
              <a:t>A Google Gemini–Powered Learning Assistant</a:t>
            </a:r>
            <a:endParaRPr lang="en-US" sz="1800" dirty="0"/>
          </a:p>
        </p:txBody>
      </p:sp>
      <p:sp>
        <p:nvSpPr>
          <p:cNvPr id="6" name="Text 4"/>
          <p:cNvSpPr txBox="1"/>
          <p:nvPr/>
        </p:nvSpPr>
        <p:spPr>
          <a:xfrm>
            <a:off x="548640" y="2651760"/>
            <a:ext cx="4572000" cy="274320"/>
          </a:xfrm>
          <a:prstGeom prst="rect">
            <a:avLst/>
          </a:prstGeom>
          <a:noFill/>
          <a:ln/>
        </p:spPr>
        <p:txBody>
          <a:bodyPr wrap="square" lIns="0" tIns="0" rIns="0" bIns="0" rtlCol="0" anchor="ctr"/>
          <a:lstStyle/>
          <a:p>
            <a:pPr indent="0" marL="0">
              <a:buNone/>
            </a:pPr>
            <a:r>
              <a:rPr lang="en-US" sz="1100" b="1" dirty="0">
                <a:solidFill>
                  <a:srgbClr val="CDE9E5"/>
                </a:solidFill>
                <a:latin typeface="Calibri" pitchFamily="34" charset="0"/>
                <a:ea typeface="Calibri" pitchFamily="34" charset="-122"/>
                <a:cs typeface="Calibri" pitchFamily="34" charset="-120"/>
              </a:rPr>
              <a:t>Team Members</a:t>
            </a:r>
            <a:endParaRPr lang="en-US" sz="1100" dirty="0"/>
          </a:p>
        </p:txBody>
      </p:sp>
      <p:sp>
        <p:nvSpPr>
          <p:cNvPr id="7" name="Text 5"/>
          <p:cNvSpPr txBox="1"/>
          <p:nvPr/>
        </p:nvSpPr>
        <p:spPr>
          <a:xfrm>
            <a:off x="548640" y="2971800"/>
            <a:ext cx="5029200" cy="16459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Eniya — Frontend</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Abinaya — Backend</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Hemavathi — Gemini AI Integration</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Mohana — Learning Features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Saj — Database, Progress &amp; Testing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33638"/>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Abstract</a:t>
            </a:r>
            <a:endParaRPr lang="en-US" sz="2800" dirty="0"/>
          </a:p>
        </p:txBody>
      </p:sp>
      <p:sp>
        <p:nvSpPr>
          <p:cNvPr id="3" name="Text 1"/>
          <p:cNvSpPr txBox="1"/>
          <p:nvPr/>
        </p:nvSpPr>
        <p:spPr>
          <a:xfrm>
            <a:off x="7223760" y="4709160"/>
            <a:ext cx="1463040" cy="274320"/>
          </a:xfrm>
          <a:prstGeom prst="rect">
            <a:avLst/>
          </a:prstGeom>
          <a:noFill/>
          <a:ln/>
        </p:spPr>
        <p:txBody>
          <a:bodyPr wrap="square" lIns="0" tIns="0" rIns="0" bIns="0" rtlCol="0" anchor="ctr"/>
          <a:lstStyle/>
          <a:p>
            <a:pPr algn="r" indent="0" marL="0">
              <a:buNone/>
            </a:pPr>
            <a:r>
              <a:rPr lang="en-US" sz="1000" dirty="0">
                <a:solidFill>
                  <a:srgbClr val="CDE9E5"/>
                </a:solidFill>
                <a:latin typeface="Calibri" pitchFamily="34" charset="0"/>
                <a:ea typeface="Calibri" pitchFamily="34" charset="-122"/>
                <a:cs typeface="Calibri" pitchFamily="34" charset="-120"/>
              </a:rPr>
              <a:t>EduGenie • 3</a:t>
            </a:r>
            <a:endParaRPr lang="en-US" sz="1000" dirty="0"/>
          </a:p>
        </p:txBody>
      </p:sp>
      <p:sp>
        <p:nvSpPr>
          <p:cNvPr id="4" name="Text 2"/>
          <p:cNvSpPr txBox="1"/>
          <p:nvPr/>
        </p:nvSpPr>
        <p:spPr>
          <a:xfrm>
            <a:off x="548640" y="1143000"/>
            <a:ext cx="8046720" cy="13716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EduGenie is an AI-powered learning companion built on the Google Gemini API. Students can ask any doubt and get a simple explanation instantly, generate quizzes and flashcards on any topic, summarize long notes into key points, and follow a day-wise study plan built around their exam dates.</a:t>
            </a:r>
            <a:endParaRPr lang="en-US" sz="1500" dirty="0"/>
          </a:p>
        </p:txBody>
      </p:sp>
      <p:sp>
        <p:nvSpPr>
          <p:cNvPr id="5" name="Text 3"/>
          <p:cNvSpPr txBox="1"/>
          <p:nvPr/>
        </p:nvSpPr>
        <p:spPr>
          <a:xfrm>
            <a:off x="548640" y="2651760"/>
            <a:ext cx="8046720" cy="9144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It solves the problem of generic study material, no instant doubt support, manual quiz creation and no progress tracking. Every quiz and question is logged, so learners always see what they have mastered and where they are weak.</a:t>
            </a:r>
            <a:endParaRPr lang="en-US" sz="1500" dirty="0"/>
          </a:p>
        </p:txBody>
      </p:sp>
      <p:sp>
        <p:nvSpPr>
          <p:cNvPr id="6" name="Shape 4"/>
          <p:cNvSpPr/>
          <p:nvPr/>
        </p:nvSpPr>
        <p:spPr>
          <a:xfrm>
            <a:off x="548640" y="3657600"/>
            <a:ext cx="8046720" cy="822960"/>
          </a:xfrm>
          <a:prstGeom prst="roundRect">
            <a:avLst>
              <a:gd name="adj" fmla="val 11111"/>
            </a:avLst>
          </a:prstGeom>
          <a:solidFill>
            <a:srgbClr val="0A4A4E"/>
          </a:solidFill>
          <a:ln w="12700">
            <a:solidFill>
              <a:srgbClr val="0A4A4E"/>
            </a:solidFill>
            <a:prstDash val="solid"/>
          </a:ln>
        </p:spPr>
      </p:sp>
      <p:sp>
        <p:nvSpPr>
          <p:cNvPr id="7" name="Text 5"/>
          <p:cNvSpPr txBox="1"/>
          <p:nvPr/>
        </p:nvSpPr>
        <p:spPr>
          <a:xfrm>
            <a:off x="731520" y="3767328"/>
            <a:ext cx="7680960" cy="365760"/>
          </a:xfrm>
          <a:prstGeom prst="rect">
            <a:avLst/>
          </a:prstGeom>
          <a:noFill/>
          <a:ln/>
        </p:spPr>
        <p:txBody>
          <a:bodyPr wrap="square" lIns="0" tIns="0" rIns="0" bIns="0" rtlCol="0" anchor="ctr"/>
          <a:lstStyle/>
          <a:p>
            <a:pPr indent="0" marL="0">
              <a:buNone/>
            </a:pPr>
            <a:r>
              <a:rPr lang="en-US" sz="1300" b="1" dirty="0">
                <a:solidFill>
                  <a:srgbClr val="1FD1A5"/>
                </a:solidFill>
                <a:latin typeface="Calibri" pitchFamily="34" charset="0"/>
                <a:ea typeface="Calibri" pitchFamily="34" charset="-122"/>
                <a:cs typeface="Calibri" pitchFamily="34" charset="-120"/>
              </a:rPr>
              <a:t>Outcome</a:t>
            </a:r>
            <a:endParaRPr lang="en-US" sz="1300" dirty="0"/>
          </a:p>
        </p:txBody>
      </p:sp>
      <p:sp>
        <p:nvSpPr>
          <p:cNvPr id="8" name="Text 6"/>
          <p:cNvSpPr txBox="1"/>
          <p:nvPr/>
        </p:nvSpPr>
        <p:spPr>
          <a:xfrm>
            <a:off x="731520" y="4160520"/>
            <a:ext cx="7680960" cy="2286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Personalised, instant, round-the-clock learning support that saves time and improves exam preparation.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33638"/>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System Architecture &amp; Tech Stack</a:t>
            </a:r>
            <a:endParaRPr lang="en-US" sz="2800" dirty="0"/>
          </a:p>
        </p:txBody>
      </p:sp>
      <p:sp>
        <p:nvSpPr>
          <p:cNvPr id="3" name="Text 1"/>
          <p:cNvSpPr txBox="1"/>
          <p:nvPr/>
        </p:nvSpPr>
        <p:spPr>
          <a:xfrm>
            <a:off x="7223760" y="4709160"/>
            <a:ext cx="1463040" cy="274320"/>
          </a:xfrm>
          <a:prstGeom prst="rect">
            <a:avLst/>
          </a:prstGeom>
          <a:noFill/>
          <a:ln/>
        </p:spPr>
        <p:txBody>
          <a:bodyPr wrap="square" lIns="0" tIns="0" rIns="0" bIns="0" rtlCol="0" anchor="ctr"/>
          <a:lstStyle/>
          <a:p>
            <a:pPr algn="r" indent="0" marL="0">
              <a:buNone/>
            </a:pPr>
            <a:r>
              <a:rPr lang="en-US" sz="1000" dirty="0">
                <a:solidFill>
                  <a:srgbClr val="CDE9E5"/>
                </a:solidFill>
                <a:latin typeface="Calibri" pitchFamily="34" charset="0"/>
                <a:ea typeface="Calibri" pitchFamily="34" charset="-122"/>
                <a:cs typeface="Calibri" pitchFamily="34" charset="-120"/>
              </a:rPr>
              <a:t>EduGenie • 4</a:t>
            </a:r>
            <a:endParaRPr lang="en-US" sz="1000" dirty="0"/>
          </a:p>
        </p:txBody>
      </p:sp>
      <p:sp>
        <p:nvSpPr>
          <p:cNvPr id="4" name="Shape 2"/>
          <p:cNvSpPr/>
          <p:nvPr/>
        </p:nvSpPr>
        <p:spPr>
          <a:xfrm>
            <a:off x="548640" y="1097280"/>
            <a:ext cx="8046720" cy="685800"/>
          </a:xfrm>
          <a:prstGeom prst="roundRect">
            <a:avLst>
              <a:gd name="adj" fmla="val 13333"/>
            </a:avLst>
          </a:prstGeom>
          <a:solidFill>
            <a:srgbClr val="0A4A4E"/>
          </a:solidFill>
          <a:ln w="12700">
            <a:solidFill>
              <a:srgbClr val="0A4A4E"/>
            </a:solidFill>
            <a:prstDash val="solid"/>
          </a:ln>
        </p:spPr>
      </p:sp>
      <p:sp>
        <p:nvSpPr>
          <p:cNvPr id="5" name="Text 3"/>
          <p:cNvSpPr txBox="1"/>
          <p:nvPr/>
        </p:nvSpPr>
        <p:spPr>
          <a:xfrm>
            <a:off x="777240" y="1097280"/>
            <a:ext cx="4572000" cy="685800"/>
          </a:xfrm>
          <a:prstGeom prst="rect">
            <a:avLst/>
          </a:prstGeom>
          <a:noFill/>
          <a:ln/>
        </p:spPr>
        <p:txBody>
          <a:bodyPr wrap="square" lIns="0" tIns="0" rIns="0" bIns="0" rtlCol="0" anchor="ctr"/>
          <a:lstStyle/>
          <a:p>
            <a:pPr indent="0" marL="0">
              <a:buNone/>
            </a:pPr>
            <a:r>
              <a:rPr lang="en-US" sz="1400" b="1" dirty="0">
                <a:solidFill>
                  <a:srgbClr val="1FD1A5"/>
                </a:solidFill>
                <a:latin typeface="Calibri" pitchFamily="34" charset="0"/>
                <a:ea typeface="Calibri" pitchFamily="34" charset="-122"/>
                <a:cs typeface="Calibri" pitchFamily="34" charset="-120"/>
              </a:rPr>
              <a:t>Frontend</a:t>
            </a:r>
            <a:endParaRPr lang="en-US" sz="1400" dirty="0"/>
          </a:p>
          <a:p>
            <a:pPr indent="0" marL="0">
              <a:buNone/>
            </a:pPr>
            <a:r>
              <a:rPr lang="en-US" sz="1150" dirty="0">
                <a:solidFill>
                  <a:srgbClr val="FFFFFF"/>
                </a:solidFill>
                <a:latin typeface="Calibri" pitchFamily="34" charset="0"/>
                <a:ea typeface="Calibri" pitchFamily="34" charset="-122"/>
                <a:cs typeface="Calibri" pitchFamily="34" charset="-120"/>
              </a:rPr>
              <a:t>React UI — chat, quizzes, dashboard</a:t>
            </a:r>
            <a:endParaRPr lang="en-US" sz="1400" dirty="0"/>
          </a:p>
        </p:txBody>
      </p:sp>
      <p:sp>
        <p:nvSpPr>
          <p:cNvPr id="6" name="Text 4"/>
          <p:cNvSpPr txBox="1"/>
          <p:nvPr/>
        </p:nvSpPr>
        <p:spPr>
          <a:xfrm>
            <a:off x="5394960" y="1097280"/>
            <a:ext cx="3017520" cy="68580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React JS, HTML, CSS</a:t>
            </a:r>
            <a:endParaRPr lang="en-US" sz="1300" dirty="0"/>
          </a:p>
        </p:txBody>
      </p:sp>
      <p:sp>
        <p:nvSpPr>
          <p:cNvPr id="7" name="Text 5"/>
          <p:cNvSpPr txBox="1"/>
          <p:nvPr/>
        </p:nvSpPr>
        <p:spPr>
          <a:xfrm>
            <a:off x="4206240" y="1773936"/>
            <a:ext cx="731520" cy="246888"/>
          </a:xfrm>
          <a:prstGeom prst="rect">
            <a:avLst/>
          </a:prstGeom>
          <a:noFill/>
          <a:ln/>
        </p:spPr>
        <p:txBody>
          <a:bodyPr wrap="square" lIns="0" tIns="0" rIns="0" bIns="0" rtlCol="0" anchor="ctr"/>
          <a:lstStyle/>
          <a:p>
            <a:pPr algn="ctr" indent="0" marL="0">
              <a:buNone/>
            </a:pPr>
            <a:r>
              <a:rPr lang="en-US" sz="1000" dirty="0">
                <a:solidFill>
                  <a:srgbClr val="1FD1A5"/>
                </a:solidFill>
                <a:latin typeface="Calibri" pitchFamily="34" charset="0"/>
                <a:ea typeface="Calibri" pitchFamily="34" charset="-122"/>
                <a:cs typeface="Calibri" pitchFamily="34" charset="-120"/>
              </a:rPr>
              <a:t>▼</a:t>
            </a:r>
            <a:endParaRPr lang="en-US" sz="1000" dirty="0"/>
          </a:p>
        </p:txBody>
      </p:sp>
      <p:sp>
        <p:nvSpPr>
          <p:cNvPr id="8" name="Shape 6"/>
          <p:cNvSpPr/>
          <p:nvPr/>
        </p:nvSpPr>
        <p:spPr>
          <a:xfrm>
            <a:off x="548640" y="2011680"/>
            <a:ext cx="8046720" cy="685800"/>
          </a:xfrm>
          <a:prstGeom prst="roundRect">
            <a:avLst>
              <a:gd name="adj" fmla="val 13333"/>
            </a:avLst>
          </a:prstGeom>
          <a:solidFill>
            <a:srgbClr val="0A4A4E"/>
          </a:solidFill>
          <a:ln w="12700">
            <a:solidFill>
              <a:srgbClr val="0A4A4E"/>
            </a:solidFill>
            <a:prstDash val="solid"/>
          </a:ln>
        </p:spPr>
      </p:sp>
      <p:sp>
        <p:nvSpPr>
          <p:cNvPr id="9" name="Text 7"/>
          <p:cNvSpPr txBox="1"/>
          <p:nvPr/>
        </p:nvSpPr>
        <p:spPr>
          <a:xfrm>
            <a:off x="777240" y="2011680"/>
            <a:ext cx="4572000" cy="685800"/>
          </a:xfrm>
          <a:prstGeom prst="rect">
            <a:avLst/>
          </a:prstGeom>
          <a:noFill/>
          <a:ln/>
        </p:spPr>
        <p:txBody>
          <a:bodyPr wrap="square" lIns="0" tIns="0" rIns="0" bIns="0" rtlCol="0" anchor="ctr"/>
          <a:lstStyle/>
          <a:p>
            <a:pPr indent="0" marL="0">
              <a:buNone/>
            </a:pPr>
            <a:r>
              <a:rPr lang="en-US" sz="1400" b="1" dirty="0">
                <a:solidFill>
                  <a:srgbClr val="1FD1A5"/>
                </a:solidFill>
                <a:latin typeface="Calibri" pitchFamily="34" charset="0"/>
                <a:ea typeface="Calibri" pitchFamily="34" charset="-122"/>
                <a:cs typeface="Calibri" pitchFamily="34" charset="-120"/>
              </a:rPr>
              <a:t>Backend</a:t>
            </a:r>
            <a:endParaRPr lang="en-US" sz="1400" dirty="0"/>
          </a:p>
          <a:p>
            <a:pPr indent="0" marL="0">
              <a:buNone/>
            </a:pPr>
            <a:r>
              <a:rPr lang="en-US" sz="1150" dirty="0">
                <a:solidFill>
                  <a:srgbClr val="FFFFFF"/>
                </a:solidFill>
                <a:latin typeface="Calibri" pitchFamily="34" charset="0"/>
                <a:ea typeface="Calibri" pitchFamily="34" charset="-122"/>
                <a:cs typeface="Calibri" pitchFamily="34" charset="-120"/>
              </a:rPr>
              <a:t>API server — routes requests &amp; logic</a:t>
            </a:r>
            <a:endParaRPr lang="en-US" sz="1400" dirty="0"/>
          </a:p>
        </p:txBody>
      </p:sp>
      <p:sp>
        <p:nvSpPr>
          <p:cNvPr id="10" name="Text 8"/>
          <p:cNvSpPr txBox="1"/>
          <p:nvPr/>
        </p:nvSpPr>
        <p:spPr>
          <a:xfrm>
            <a:off x="5394960" y="2011680"/>
            <a:ext cx="3017520" cy="68580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Node.js / Express</a:t>
            </a:r>
            <a:endParaRPr lang="en-US" sz="1300" dirty="0"/>
          </a:p>
        </p:txBody>
      </p:sp>
      <p:sp>
        <p:nvSpPr>
          <p:cNvPr id="11" name="Text 9"/>
          <p:cNvSpPr txBox="1"/>
          <p:nvPr/>
        </p:nvSpPr>
        <p:spPr>
          <a:xfrm>
            <a:off x="4206240" y="2688336"/>
            <a:ext cx="731520" cy="246888"/>
          </a:xfrm>
          <a:prstGeom prst="rect">
            <a:avLst/>
          </a:prstGeom>
          <a:noFill/>
          <a:ln/>
        </p:spPr>
        <p:txBody>
          <a:bodyPr wrap="square" lIns="0" tIns="0" rIns="0" bIns="0" rtlCol="0" anchor="ctr"/>
          <a:lstStyle/>
          <a:p>
            <a:pPr algn="ctr" indent="0" marL="0">
              <a:buNone/>
            </a:pPr>
            <a:r>
              <a:rPr lang="en-US" sz="1000" dirty="0">
                <a:solidFill>
                  <a:srgbClr val="1FD1A5"/>
                </a:solidFill>
                <a:latin typeface="Calibri" pitchFamily="34" charset="0"/>
                <a:ea typeface="Calibri" pitchFamily="34" charset="-122"/>
                <a:cs typeface="Calibri" pitchFamily="34" charset="-120"/>
              </a:rPr>
              <a:t>▼</a:t>
            </a:r>
            <a:endParaRPr lang="en-US" sz="1000" dirty="0"/>
          </a:p>
        </p:txBody>
      </p:sp>
      <p:sp>
        <p:nvSpPr>
          <p:cNvPr id="12" name="Shape 10"/>
          <p:cNvSpPr/>
          <p:nvPr/>
        </p:nvSpPr>
        <p:spPr>
          <a:xfrm>
            <a:off x="548640" y="2926080"/>
            <a:ext cx="8046720" cy="685800"/>
          </a:xfrm>
          <a:prstGeom prst="roundRect">
            <a:avLst>
              <a:gd name="adj" fmla="val 13333"/>
            </a:avLst>
          </a:prstGeom>
          <a:solidFill>
            <a:srgbClr val="0A4A4E"/>
          </a:solidFill>
          <a:ln w="12700">
            <a:solidFill>
              <a:srgbClr val="0A4A4E"/>
            </a:solidFill>
            <a:prstDash val="solid"/>
          </a:ln>
        </p:spPr>
      </p:sp>
      <p:sp>
        <p:nvSpPr>
          <p:cNvPr id="13" name="Text 11"/>
          <p:cNvSpPr txBox="1"/>
          <p:nvPr/>
        </p:nvSpPr>
        <p:spPr>
          <a:xfrm>
            <a:off x="777240" y="2926080"/>
            <a:ext cx="4572000" cy="685800"/>
          </a:xfrm>
          <a:prstGeom prst="rect">
            <a:avLst/>
          </a:prstGeom>
          <a:noFill/>
          <a:ln/>
        </p:spPr>
        <p:txBody>
          <a:bodyPr wrap="square" lIns="0" tIns="0" rIns="0" bIns="0" rtlCol="0" anchor="ctr"/>
          <a:lstStyle/>
          <a:p>
            <a:pPr indent="0" marL="0">
              <a:buNone/>
            </a:pPr>
            <a:r>
              <a:rPr lang="en-US" sz="1400" b="1" dirty="0">
                <a:solidFill>
                  <a:srgbClr val="1FD1A5"/>
                </a:solidFill>
                <a:latin typeface="Calibri" pitchFamily="34" charset="0"/>
                <a:ea typeface="Calibri" pitchFamily="34" charset="-122"/>
                <a:cs typeface="Calibri" pitchFamily="34" charset="-120"/>
              </a:rPr>
              <a:t>Gemini AI Layer</a:t>
            </a:r>
            <a:endParaRPr lang="en-US" sz="1400" dirty="0"/>
          </a:p>
          <a:p>
            <a:pPr indent="0" marL="0">
              <a:buNone/>
            </a:pPr>
            <a:r>
              <a:rPr lang="en-US" sz="1150" dirty="0">
                <a:solidFill>
                  <a:srgbClr val="FFFFFF"/>
                </a:solidFill>
                <a:latin typeface="Calibri" pitchFamily="34" charset="0"/>
                <a:ea typeface="Calibri" pitchFamily="34" charset="-122"/>
                <a:cs typeface="Calibri" pitchFamily="34" charset="-120"/>
              </a:rPr>
              <a:t>Prompt handling &amp; Gemini API calls</a:t>
            </a:r>
            <a:endParaRPr lang="en-US" sz="1400" dirty="0"/>
          </a:p>
        </p:txBody>
      </p:sp>
      <p:sp>
        <p:nvSpPr>
          <p:cNvPr id="14" name="Text 12"/>
          <p:cNvSpPr txBox="1"/>
          <p:nvPr/>
        </p:nvSpPr>
        <p:spPr>
          <a:xfrm>
            <a:off x="5394960" y="2926080"/>
            <a:ext cx="3017520" cy="68580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Google Gemini API</a:t>
            </a:r>
            <a:endParaRPr lang="en-US" sz="1300" dirty="0"/>
          </a:p>
        </p:txBody>
      </p:sp>
      <p:sp>
        <p:nvSpPr>
          <p:cNvPr id="15" name="Text 13"/>
          <p:cNvSpPr txBox="1"/>
          <p:nvPr/>
        </p:nvSpPr>
        <p:spPr>
          <a:xfrm>
            <a:off x="4206240" y="3602736"/>
            <a:ext cx="731520" cy="246888"/>
          </a:xfrm>
          <a:prstGeom prst="rect">
            <a:avLst/>
          </a:prstGeom>
          <a:noFill/>
          <a:ln/>
        </p:spPr>
        <p:txBody>
          <a:bodyPr wrap="square" lIns="0" tIns="0" rIns="0" bIns="0" rtlCol="0" anchor="ctr"/>
          <a:lstStyle/>
          <a:p>
            <a:pPr algn="ctr" indent="0" marL="0">
              <a:buNone/>
            </a:pPr>
            <a:r>
              <a:rPr lang="en-US" sz="1000" dirty="0">
                <a:solidFill>
                  <a:srgbClr val="1FD1A5"/>
                </a:solidFill>
                <a:latin typeface="Calibri" pitchFamily="34" charset="0"/>
                <a:ea typeface="Calibri" pitchFamily="34" charset="-122"/>
                <a:cs typeface="Calibri" pitchFamily="34" charset="-120"/>
              </a:rPr>
              <a:t>▼</a:t>
            </a:r>
            <a:endParaRPr lang="en-US" sz="1000" dirty="0"/>
          </a:p>
        </p:txBody>
      </p:sp>
      <p:sp>
        <p:nvSpPr>
          <p:cNvPr id="16" name="Shape 14"/>
          <p:cNvSpPr/>
          <p:nvPr/>
        </p:nvSpPr>
        <p:spPr>
          <a:xfrm>
            <a:off x="548640" y="3840480"/>
            <a:ext cx="8046720" cy="685800"/>
          </a:xfrm>
          <a:prstGeom prst="roundRect">
            <a:avLst>
              <a:gd name="adj" fmla="val 13333"/>
            </a:avLst>
          </a:prstGeom>
          <a:solidFill>
            <a:srgbClr val="0A4A4E"/>
          </a:solidFill>
          <a:ln w="12700">
            <a:solidFill>
              <a:srgbClr val="0A4A4E"/>
            </a:solidFill>
            <a:prstDash val="solid"/>
          </a:ln>
        </p:spPr>
      </p:sp>
      <p:sp>
        <p:nvSpPr>
          <p:cNvPr id="17" name="Text 15"/>
          <p:cNvSpPr txBox="1"/>
          <p:nvPr/>
        </p:nvSpPr>
        <p:spPr>
          <a:xfrm>
            <a:off x="777240" y="3840480"/>
            <a:ext cx="4572000" cy="685800"/>
          </a:xfrm>
          <a:prstGeom prst="rect">
            <a:avLst/>
          </a:prstGeom>
          <a:noFill/>
          <a:ln/>
        </p:spPr>
        <p:txBody>
          <a:bodyPr wrap="square" lIns="0" tIns="0" rIns="0" bIns="0" rtlCol="0" anchor="ctr"/>
          <a:lstStyle/>
          <a:p>
            <a:pPr indent="0" marL="0">
              <a:buNone/>
            </a:pPr>
            <a:r>
              <a:rPr lang="en-US" sz="1400" b="1" dirty="0">
                <a:solidFill>
                  <a:srgbClr val="1FD1A5"/>
                </a:solidFill>
                <a:latin typeface="Calibri" pitchFamily="34" charset="0"/>
                <a:ea typeface="Calibri" pitchFamily="34" charset="-122"/>
                <a:cs typeface="Calibri" pitchFamily="34" charset="-120"/>
              </a:rPr>
              <a:t>Database</a:t>
            </a:r>
            <a:endParaRPr lang="en-US" sz="1400" dirty="0"/>
          </a:p>
          <a:p>
            <a:pPr indent="0" marL="0">
              <a:buNone/>
            </a:pPr>
            <a:r>
              <a:rPr lang="en-US" sz="1150" dirty="0">
                <a:solidFill>
                  <a:srgbClr val="FFFFFF"/>
                </a:solidFill>
                <a:latin typeface="Calibri" pitchFamily="34" charset="0"/>
                <a:ea typeface="Calibri" pitchFamily="34" charset="-122"/>
                <a:cs typeface="Calibri" pitchFamily="34" charset="-120"/>
              </a:rPr>
              <a:t>Stores users, quiz scores, progress</a:t>
            </a:r>
            <a:endParaRPr lang="en-US" sz="1400" dirty="0"/>
          </a:p>
        </p:txBody>
      </p:sp>
      <p:sp>
        <p:nvSpPr>
          <p:cNvPr id="18" name="Text 16"/>
          <p:cNvSpPr txBox="1"/>
          <p:nvPr/>
        </p:nvSpPr>
        <p:spPr>
          <a:xfrm>
            <a:off x="5394960" y="3840480"/>
            <a:ext cx="3017520" cy="68580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MongoDB / Firebase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33638"/>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Ask-a-Doubt Chat</a:t>
            </a:r>
            <a:endParaRPr lang="en-US" sz="2800" dirty="0"/>
          </a:p>
        </p:txBody>
      </p:sp>
      <p:sp>
        <p:nvSpPr>
          <p:cNvPr id="3" name="Text 1"/>
          <p:cNvSpPr txBox="1"/>
          <p:nvPr/>
        </p:nvSpPr>
        <p:spPr>
          <a:xfrm>
            <a:off x="7223760" y="4709160"/>
            <a:ext cx="1463040" cy="274320"/>
          </a:xfrm>
          <a:prstGeom prst="rect">
            <a:avLst/>
          </a:prstGeom>
          <a:noFill/>
          <a:ln/>
        </p:spPr>
        <p:txBody>
          <a:bodyPr wrap="square" lIns="0" tIns="0" rIns="0" bIns="0" rtlCol="0" anchor="ctr"/>
          <a:lstStyle/>
          <a:p>
            <a:pPr algn="r" indent="0" marL="0">
              <a:buNone/>
            </a:pPr>
            <a:r>
              <a:rPr lang="en-US" sz="1000" dirty="0">
                <a:solidFill>
                  <a:srgbClr val="CDE9E5"/>
                </a:solidFill>
                <a:latin typeface="Calibri" pitchFamily="34" charset="0"/>
                <a:ea typeface="Calibri" pitchFamily="34" charset="-122"/>
                <a:cs typeface="Calibri" pitchFamily="34" charset="-120"/>
              </a:rPr>
              <a:t>EduGenie • 5</a:t>
            </a:r>
            <a:endParaRPr lang="en-US" sz="1000" dirty="0"/>
          </a:p>
        </p:txBody>
      </p:sp>
      <p:sp>
        <p:nvSpPr>
          <p:cNvPr id="4" name="Text 2"/>
          <p:cNvSpPr txBox="1"/>
          <p:nvPr/>
        </p:nvSpPr>
        <p:spPr>
          <a:xfrm>
            <a:off x="548640" y="868680"/>
            <a:ext cx="8046720" cy="320040"/>
          </a:xfrm>
          <a:prstGeom prst="rect">
            <a:avLst/>
          </a:prstGeom>
          <a:noFill/>
          <a:ln/>
        </p:spPr>
        <p:txBody>
          <a:bodyPr wrap="square" lIns="0" tIns="0" rIns="0" bIns="0" rtlCol="0" anchor="ctr"/>
          <a:lstStyle/>
          <a:p>
            <a:pPr indent="0" marL="0">
              <a:buNone/>
            </a:pPr>
            <a:r>
              <a:rPr lang="en-US" sz="1400" i="1" dirty="0">
                <a:solidFill>
                  <a:srgbClr val="1FD1A5"/>
                </a:solidFill>
                <a:latin typeface="Calibri" pitchFamily="34" charset="0"/>
                <a:ea typeface="Calibri" pitchFamily="34" charset="-122"/>
                <a:cs typeface="Calibri" pitchFamily="34" charset="-120"/>
              </a:rPr>
              <a:t>Instant, simple answers to any doubt — any time</a:t>
            </a:r>
            <a:endParaRPr lang="en-US" sz="1400" dirty="0"/>
          </a:p>
        </p:txBody>
      </p:sp>
      <p:sp>
        <p:nvSpPr>
          <p:cNvPr id="5" name="Text 3"/>
          <p:cNvSpPr txBox="1"/>
          <p:nvPr/>
        </p:nvSpPr>
        <p:spPr>
          <a:xfrm>
            <a:off x="548640" y="1371600"/>
            <a:ext cx="4023360" cy="274320"/>
          </a:xfrm>
          <a:prstGeom prst="rect">
            <a:avLst/>
          </a:prstGeom>
          <a:noFill/>
          <a:ln/>
        </p:spPr>
        <p:txBody>
          <a:bodyPr wrap="square" lIns="0" tIns="0" rIns="0" bIns="0" rtlCol="0" anchor="ctr"/>
          <a:lstStyle/>
          <a:p>
            <a:pPr indent="0" marL="0">
              <a:buNone/>
            </a:pPr>
            <a:r>
              <a:rPr lang="en-US" sz="1400" b="1" dirty="0">
                <a:solidFill>
                  <a:srgbClr val="1FD1A5"/>
                </a:solidFill>
                <a:latin typeface="Calibri" pitchFamily="34" charset="0"/>
                <a:ea typeface="Calibri" pitchFamily="34" charset="-122"/>
                <a:cs typeface="Calibri" pitchFamily="34" charset="-120"/>
              </a:rPr>
              <a:t>How it works</a:t>
            </a:r>
            <a:endParaRPr lang="en-US" sz="1400" dirty="0"/>
          </a:p>
        </p:txBody>
      </p:sp>
      <p:sp>
        <p:nvSpPr>
          <p:cNvPr id="6" name="Shape 4"/>
          <p:cNvSpPr/>
          <p:nvPr/>
        </p:nvSpPr>
        <p:spPr>
          <a:xfrm>
            <a:off x="548640" y="1783080"/>
            <a:ext cx="411480" cy="411480"/>
          </a:xfrm>
          <a:prstGeom prst="ellipse">
            <a:avLst/>
          </a:prstGeom>
          <a:solidFill>
            <a:srgbClr val="1FD1A5"/>
          </a:solidFill>
          <a:ln w="12700">
            <a:solidFill>
              <a:srgbClr val="1FD1A5"/>
            </a:solidFill>
            <a:prstDash val="solid"/>
          </a:ln>
        </p:spPr>
      </p:sp>
      <p:sp>
        <p:nvSpPr>
          <p:cNvPr id="7" name="Text 5"/>
          <p:cNvSpPr txBox="1"/>
          <p:nvPr/>
        </p:nvSpPr>
        <p:spPr>
          <a:xfrm>
            <a:off x="548640" y="1783080"/>
            <a:ext cx="411480" cy="411480"/>
          </a:xfrm>
          <a:prstGeom prst="rect">
            <a:avLst/>
          </a:prstGeom>
          <a:noFill/>
          <a:ln/>
        </p:spPr>
        <p:txBody>
          <a:bodyPr wrap="square" lIns="0" tIns="0" rIns="0" bIns="0" rtlCol="0" anchor="ctr"/>
          <a:lstStyle/>
          <a:p>
            <a:pPr algn="ctr" indent="0" marL="0">
              <a:buNone/>
            </a:pPr>
            <a:r>
              <a:rPr lang="en-US" sz="1400" b="1" dirty="0">
                <a:solidFill>
                  <a:srgbClr val="033638"/>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097280" y="1737360"/>
            <a:ext cx="347472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Student types a question in the chat</a:t>
            </a:r>
            <a:endParaRPr lang="en-US" sz="1250" dirty="0"/>
          </a:p>
        </p:txBody>
      </p:sp>
      <p:sp>
        <p:nvSpPr>
          <p:cNvPr id="9" name="Shape 7"/>
          <p:cNvSpPr/>
          <p:nvPr/>
        </p:nvSpPr>
        <p:spPr>
          <a:xfrm>
            <a:off x="548640" y="2514600"/>
            <a:ext cx="411480" cy="411480"/>
          </a:xfrm>
          <a:prstGeom prst="ellipse">
            <a:avLst/>
          </a:prstGeom>
          <a:solidFill>
            <a:srgbClr val="1FD1A5"/>
          </a:solidFill>
          <a:ln w="12700">
            <a:solidFill>
              <a:srgbClr val="1FD1A5"/>
            </a:solidFill>
            <a:prstDash val="solid"/>
          </a:ln>
        </p:spPr>
      </p:sp>
      <p:sp>
        <p:nvSpPr>
          <p:cNvPr id="10" name="Text 8"/>
          <p:cNvSpPr txBox="1"/>
          <p:nvPr/>
        </p:nvSpPr>
        <p:spPr>
          <a:xfrm>
            <a:off x="548640" y="2514600"/>
            <a:ext cx="411480" cy="411480"/>
          </a:xfrm>
          <a:prstGeom prst="rect">
            <a:avLst/>
          </a:prstGeom>
          <a:noFill/>
          <a:ln/>
        </p:spPr>
        <p:txBody>
          <a:bodyPr wrap="square" lIns="0" tIns="0" rIns="0" bIns="0" rtlCol="0" anchor="ctr"/>
          <a:lstStyle/>
          <a:p>
            <a:pPr algn="ctr" indent="0" marL="0">
              <a:buNone/>
            </a:pPr>
            <a:r>
              <a:rPr lang="en-US" sz="1400" b="1" dirty="0">
                <a:solidFill>
                  <a:srgbClr val="033638"/>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097280" y="2468880"/>
            <a:ext cx="347472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Backend adds context and sends it to Gemini</a:t>
            </a:r>
            <a:endParaRPr lang="en-US" sz="1250" dirty="0"/>
          </a:p>
        </p:txBody>
      </p:sp>
      <p:sp>
        <p:nvSpPr>
          <p:cNvPr id="12" name="Shape 10"/>
          <p:cNvSpPr/>
          <p:nvPr/>
        </p:nvSpPr>
        <p:spPr>
          <a:xfrm>
            <a:off x="548640" y="3246120"/>
            <a:ext cx="411480" cy="411480"/>
          </a:xfrm>
          <a:prstGeom prst="ellipse">
            <a:avLst/>
          </a:prstGeom>
          <a:solidFill>
            <a:srgbClr val="1FD1A5"/>
          </a:solidFill>
          <a:ln w="12700">
            <a:solidFill>
              <a:srgbClr val="1FD1A5"/>
            </a:solidFill>
            <a:prstDash val="solid"/>
          </a:ln>
        </p:spPr>
      </p:sp>
      <p:sp>
        <p:nvSpPr>
          <p:cNvPr id="13" name="Text 11"/>
          <p:cNvSpPr txBox="1"/>
          <p:nvPr/>
        </p:nvSpPr>
        <p:spPr>
          <a:xfrm>
            <a:off x="548640" y="3246120"/>
            <a:ext cx="411480" cy="411480"/>
          </a:xfrm>
          <a:prstGeom prst="rect">
            <a:avLst/>
          </a:prstGeom>
          <a:noFill/>
          <a:ln/>
        </p:spPr>
        <p:txBody>
          <a:bodyPr wrap="square" lIns="0" tIns="0" rIns="0" bIns="0" rtlCol="0" anchor="ctr"/>
          <a:lstStyle/>
          <a:p>
            <a:pPr algn="ctr" indent="0" marL="0">
              <a:buNone/>
            </a:pPr>
            <a:r>
              <a:rPr lang="en-US" sz="1400" b="1" dirty="0">
                <a:solidFill>
                  <a:srgbClr val="033638"/>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097280" y="3200400"/>
            <a:ext cx="347472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Gemini returns a clear, simple explanation</a:t>
            </a:r>
            <a:endParaRPr lang="en-US" sz="1250" dirty="0"/>
          </a:p>
        </p:txBody>
      </p:sp>
      <p:sp>
        <p:nvSpPr>
          <p:cNvPr id="15" name="Shape 13"/>
          <p:cNvSpPr/>
          <p:nvPr/>
        </p:nvSpPr>
        <p:spPr>
          <a:xfrm>
            <a:off x="548640" y="3977640"/>
            <a:ext cx="411480" cy="411480"/>
          </a:xfrm>
          <a:prstGeom prst="ellipse">
            <a:avLst/>
          </a:prstGeom>
          <a:solidFill>
            <a:srgbClr val="1FD1A5"/>
          </a:solidFill>
          <a:ln w="12700">
            <a:solidFill>
              <a:srgbClr val="1FD1A5"/>
            </a:solidFill>
            <a:prstDash val="solid"/>
          </a:ln>
        </p:spPr>
      </p:sp>
      <p:sp>
        <p:nvSpPr>
          <p:cNvPr id="16" name="Text 14"/>
          <p:cNvSpPr txBox="1"/>
          <p:nvPr/>
        </p:nvSpPr>
        <p:spPr>
          <a:xfrm>
            <a:off x="548640" y="3977640"/>
            <a:ext cx="411480" cy="411480"/>
          </a:xfrm>
          <a:prstGeom prst="rect">
            <a:avLst/>
          </a:prstGeom>
          <a:noFill/>
          <a:ln/>
        </p:spPr>
        <p:txBody>
          <a:bodyPr wrap="square" lIns="0" tIns="0" rIns="0" bIns="0" rtlCol="0" anchor="ctr"/>
          <a:lstStyle/>
          <a:p>
            <a:pPr algn="ctr" indent="0" marL="0">
              <a:buNone/>
            </a:pPr>
            <a:r>
              <a:rPr lang="en-US" sz="1400" b="1" dirty="0">
                <a:solidFill>
                  <a:srgbClr val="033638"/>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097280" y="3931920"/>
            <a:ext cx="347472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Student asks follow-ups; the question is logged</a:t>
            </a:r>
            <a:endParaRPr lang="en-US" sz="1250" dirty="0"/>
          </a:p>
        </p:txBody>
      </p:sp>
      <p:sp>
        <p:nvSpPr>
          <p:cNvPr id="18" name="Shape 16"/>
          <p:cNvSpPr/>
          <p:nvPr/>
        </p:nvSpPr>
        <p:spPr>
          <a:xfrm>
            <a:off x="4937760" y="1371600"/>
            <a:ext cx="3657600" cy="1554480"/>
          </a:xfrm>
          <a:prstGeom prst="roundRect">
            <a:avLst>
              <a:gd name="adj" fmla="val 5882"/>
            </a:avLst>
          </a:prstGeom>
          <a:solidFill>
            <a:srgbClr val="0A4A4E"/>
          </a:solidFill>
          <a:ln w="12700">
            <a:solidFill>
              <a:srgbClr val="0A4A4E"/>
            </a:solidFill>
            <a:prstDash val="solid"/>
          </a:ln>
        </p:spPr>
      </p:sp>
      <p:sp>
        <p:nvSpPr>
          <p:cNvPr id="19" name="Text 17"/>
          <p:cNvSpPr txBox="1"/>
          <p:nvPr/>
        </p:nvSpPr>
        <p:spPr>
          <a:xfrm>
            <a:off x="5120640" y="1481328"/>
            <a:ext cx="3291840" cy="365760"/>
          </a:xfrm>
          <a:prstGeom prst="rect">
            <a:avLst/>
          </a:prstGeom>
          <a:noFill/>
          <a:ln/>
        </p:spPr>
        <p:txBody>
          <a:bodyPr wrap="square" lIns="0" tIns="0" rIns="0" bIns="0" rtlCol="0" anchor="ctr"/>
          <a:lstStyle/>
          <a:p>
            <a:pPr indent="0" marL="0">
              <a:buNone/>
            </a:pPr>
            <a:r>
              <a:rPr lang="en-US" sz="1300" b="1" dirty="0">
                <a:solidFill>
                  <a:srgbClr val="1FD1A5"/>
                </a:solidFill>
                <a:latin typeface="Calibri" pitchFamily="34" charset="0"/>
                <a:ea typeface="Calibri" pitchFamily="34" charset="-122"/>
                <a:cs typeface="Calibri" pitchFamily="34" charset="-120"/>
              </a:rPr>
              <a:t>Sample prompt — Explain</a:t>
            </a:r>
            <a:endParaRPr lang="en-US" sz="1300" dirty="0"/>
          </a:p>
        </p:txBody>
      </p:sp>
      <p:sp>
        <p:nvSpPr>
          <p:cNvPr id="20" name="Text 18"/>
          <p:cNvSpPr txBox="1"/>
          <p:nvPr/>
        </p:nvSpPr>
        <p:spPr>
          <a:xfrm>
            <a:off x="5120640" y="1874520"/>
            <a:ext cx="329184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“Explain [topic] to a school student with a simple example”</a:t>
            </a:r>
            <a:endParaRPr lang="en-US" sz="1300" dirty="0"/>
          </a:p>
        </p:txBody>
      </p:sp>
      <p:sp>
        <p:nvSpPr>
          <p:cNvPr id="21" name="Shape 19"/>
          <p:cNvSpPr/>
          <p:nvPr/>
        </p:nvSpPr>
        <p:spPr>
          <a:xfrm>
            <a:off x="4937760" y="3108960"/>
            <a:ext cx="3657600" cy="1371600"/>
          </a:xfrm>
          <a:prstGeom prst="roundRect">
            <a:avLst>
              <a:gd name="adj" fmla="val 6667"/>
            </a:avLst>
          </a:prstGeom>
          <a:solidFill>
            <a:srgbClr val="0A4A4E"/>
          </a:solidFill>
          <a:ln w="12700">
            <a:solidFill>
              <a:srgbClr val="0A4A4E"/>
            </a:solidFill>
            <a:prstDash val="solid"/>
          </a:ln>
        </p:spPr>
      </p:sp>
      <p:sp>
        <p:nvSpPr>
          <p:cNvPr id="22" name="Text 20"/>
          <p:cNvSpPr txBox="1"/>
          <p:nvPr/>
        </p:nvSpPr>
        <p:spPr>
          <a:xfrm>
            <a:off x="5120640" y="3218688"/>
            <a:ext cx="3291840" cy="365760"/>
          </a:xfrm>
          <a:prstGeom prst="rect">
            <a:avLst/>
          </a:prstGeom>
          <a:noFill/>
          <a:ln/>
        </p:spPr>
        <p:txBody>
          <a:bodyPr wrap="square" lIns="0" tIns="0" rIns="0" bIns="0" rtlCol="0" anchor="ctr"/>
          <a:lstStyle/>
          <a:p>
            <a:pPr indent="0" marL="0">
              <a:buNone/>
            </a:pPr>
            <a:r>
              <a:rPr lang="en-US" sz="1300" b="1" dirty="0">
                <a:solidFill>
                  <a:srgbClr val="1FD1A5"/>
                </a:solidFill>
                <a:latin typeface="Calibri" pitchFamily="34" charset="0"/>
                <a:ea typeface="Calibri" pitchFamily="34" charset="-122"/>
                <a:cs typeface="Calibri" pitchFamily="34" charset="-120"/>
              </a:rPr>
              <a:t>Benefit</a:t>
            </a:r>
            <a:endParaRPr lang="en-US" sz="1300" dirty="0"/>
          </a:p>
        </p:txBody>
      </p:sp>
      <p:sp>
        <p:nvSpPr>
          <p:cNvPr id="23" name="Text 21"/>
          <p:cNvSpPr txBox="1"/>
          <p:nvPr/>
        </p:nvSpPr>
        <p:spPr>
          <a:xfrm>
            <a:off x="5120640" y="3611880"/>
            <a:ext cx="3291840" cy="7772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No waiting for a teacher — doubts are cleared outside class hours, at the student’s own pace.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33638"/>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Quiz Generator</a:t>
            </a:r>
            <a:endParaRPr lang="en-US" sz="2800" dirty="0"/>
          </a:p>
        </p:txBody>
      </p:sp>
      <p:sp>
        <p:nvSpPr>
          <p:cNvPr id="3" name="Text 1"/>
          <p:cNvSpPr txBox="1"/>
          <p:nvPr/>
        </p:nvSpPr>
        <p:spPr>
          <a:xfrm>
            <a:off x="7223760" y="4709160"/>
            <a:ext cx="1463040" cy="274320"/>
          </a:xfrm>
          <a:prstGeom prst="rect">
            <a:avLst/>
          </a:prstGeom>
          <a:noFill/>
          <a:ln/>
        </p:spPr>
        <p:txBody>
          <a:bodyPr wrap="square" lIns="0" tIns="0" rIns="0" bIns="0" rtlCol="0" anchor="ctr"/>
          <a:lstStyle/>
          <a:p>
            <a:pPr algn="r" indent="0" marL="0">
              <a:buNone/>
            </a:pPr>
            <a:r>
              <a:rPr lang="en-US" sz="1000" dirty="0">
                <a:solidFill>
                  <a:srgbClr val="CDE9E5"/>
                </a:solidFill>
                <a:latin typeface="Calibri" pitchFamily="34" charset="0"/>
                <a:ea typeface="Calibri" pitchFamily="34" charset="-122"/>
                <a:cs typeface="Calibri" pitchFamily="34" charset="-120"/>
              </a:rPr>
              <a:t>EduGenie • 6</a:t>
            </a:r>
            <a:endParaRPr lang="en-US" sz="1000" dirty="0"/>
          </a:p>
        </p:txBody>
      </p:sp>
      <p:sp>
        <p:nvSpPr>
          <p:cNvPr id="4" name="Text 2"/>
          <p:cNvSpPr txBox="1"/>
          <p:nvPr/>
        </p:nvSpPr>
        <p:spPr>
          <a:xfrm>
            <a:off x="548640" y="868680"/>
            <a:ext cx="8046720" cy="320040"/>
          </a:xfrm>
          <a:prstGeom prst="rect">
            <a:avLst/>
          </a:prstGeom>
          <a:noFill/>
          <a:ln/>
        </p:spPr>
        <p:txBody>
          <a:bodyPr wrap="square" lIns="0" tIns="0" rIns="0" bIns="0" rtlCol="0" anchor="ctr"/>
          <a:lstStyle/>
          <a:p>
            <a:pPr indent="0" marL="0">
              <a:buNone/>
            </a:pPr>
            <a:r>
              <a:rPr lang="en-US" sz="1400" i="1" dirty="0">
                <a:solidFill>
                  <a:srgbClr val="1FD1A5"/>
                </a:solidFill>
                <a:latin typeface="Calibri" pitchFamily="34" charset="0"/>
                <a:ea typeface="Calibri" pitchFamily="34" charset="-122"/>
                <a:cs typeface="Calibri" pitchFamily="34" charset="-120"/>
              </a:rPr>
              <a:t>Practice questions in seconds, scored instantly</a:t>
            </a:r>
            <a:endParaRPr lang="en-US" sz="1400" dirty="0"/>
          </a:p>
        </p:txBody>
      </p:sp>
      <p:sp>
        <p:nvSpPr>
          <p:cNvPr id="5" name="Text 3"/>
          <p:cNvSpPr txBox="1"/>
          <p:nvPr/>
        </p:nvSpPr>
        <p:spPr>
          <a:xfrm>
            <a:off x="548640" y="1371600"/>
            <a:ext cx="4023360" cy="274320"/>
          </a:xfrm>
          <a:prstGeom prst="rect">
            <a:avLst/>
          </a:prstGeom>
          <a:noFill/>
          <a:ln/>
        </p:spPr>
        <p:txBody>
          <a:bodyPr wrap="square" lIns="0" tIns="0" rIns="0" bIns="0" rtlCol="0" anchor="ctr"/>
          <a:lstStyle/>
          <a:p>
            <a:pPr indent="0" marL="0">
              <a:buNone/>
            </a:pPr>
            <a:r>
              <a:rPr lang="en-US" sz="1400" b="1" dirty="0">
                <a:solidFill>
                  <a:srgbClr val="1FD1A5"/>
                </a:solidFill>
                <a:latin typeface="Calibri" pitchFamily="34" charset="0"/>
                <a:ea typeface="Calibri" pitchFamily="34" charset="-122"/>
                <a:cs typeface="Calibri" pitchFamily="34" charset="-120"/>
              </a:rPr>
              <a:t>How it works</a:t>
            </a:r>
            <a:endParaRPr lang="en-US" sz="1400" dirty="0"/>
          </a:p>
        </p:txBody>
      </p:sp>
      <p:sp>
        <p:nvSpPr>
          <p:cNvPr id="6" name="Shape 4"/>
          <p:cNvSpPr/>
          <p:nvPr/>
        </p:nvSpPr>
        <p:spPr>
          <a:xfrm>
            <a:off x="548640" y="1783080"/>
            <a:ext cx="411480" cy="411480"/>
          </a:xfrm>
          <a:prstGeom prst="ellipse">
            <a:avLst/>
          </a:prstGeom>
          <a:solidFill>
            <a:srgbClr val="1FD1A5"/>
          </a:solidFill>
          <a:ln w="12700">
            <a:solidFill>
              <a:srgbClr val="1FD1A5"/>
            </a:solidFill>
            <a:prstDash val="solid"/>
          </a:ln>
        </p:spPr>
      </p:sp>
      <p:sp>
        <p:nvSpPr>
          <p:cNvPr id="7" name="Text 5"/>
          <p:cNvSpPr txBox="1"/>
          <p:nvPr/>
        </p:nvSpPr>
        <p:spPr>
          <a:xfrm>
            <a:off x="548640" y="1783080"/>
            <a:ext cx="411480" cy="411480"/>
          </a:xfrm>
          <a:prstGeom prst="rect">
            <a:avLst/>
          </a:prstGeom>
          <a:noFill/>
          <a:ln/>
        </p:spPr>
        <p:txBody>
          <a:bodyPr wrap="square" lIns="0" tIns="0" rIns="0" bIns="0" rtlCol="0" anchor="ctr"/>
          <a:lstStyle/>
          <a:p>
            <a:pPr algn="ctr" indent="0" marL="0">
              <a:buNone/>
            </a:pPr>
            <a:r>
              <a:rPr lang="en-US" sz="1400" b="1" dirty="0">
                <a:solidFill>
                  <a:srgbClr val="033638"/>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097280" y="1737360"/>
            <a:ext cx="347472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Student picks a topic and difficulty level</a:t>
            </a:r>
            <a:endParaRPr lang="en-US" sz="1250" dirty="0"/>
          </a:p>
        </p:txBody>
      </p:sp>
      <p:sp>
        <p:nvSpPr>
          <p:cNvPr id="9" name="Shape 7"/>
          <p:cNvSpPr/>
          <p:nvPr/>
        </p:nvSpPr>
        <p:spPr>
          <a:xfrm>
            <a:off x="548640" y="2514600"/>
            <a:ext cx="411480" cy="411480"/>
          </a:xfrm>
          <a:prstGeom prst="ellipse">
            <a:avLst/>
          </a:prstGeom>
          <a:solidFill>
            <a:srgbClr val="1FD1A5"/>
          </a:solidFill>
          <a:ln w="12700">
            <a:solidFill>
              <a:srgbClr val="1FD1A5"/>
            </a:solidFill>
            <a:prstDash val="solid"/>
          </a:ln>
        </p:spPr>
      </p:sp>
      <p:sp>
        <p:nvSpPr>
          <p:cNvPr id="10" name="Text 8"/>
          <p:cNvSpPr txBox="1"/>
          <p:nvPr/>
        </p:nvSpPr>
        <p:spPr>
          <a:xfrm>
            <a:off x="548640" y="2514600"/>
            <a:ext cx="411480" cy="411480"/>
          </a:xfrm>
          <a:prstGeom prst="rect">
            <a:avLst/>
          </a:prstGeom>
          <a:noFill/>
          <a:ln/>
        </p:spPr>
        <p:txBody>
          <a:bodyPr wrap="square" lIns="0" tIns="0" rIns="0" bIns="0" rtlCol="0" anchor="ctr"/>
          <a:lstStyle/>
          <a:p>
            <a:pPr algn="ctr" indent="0" marL="0">
              <a:buNone/>
            </a:pPr>
            <a:r>
              <a:rPr lang="en-US" sz="1400" b="1" dirty="0">
                <a:solidFill>
                  <a:srgbClr val="033638"/>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097280" y="2468880"/>
            <a:ext cx="347472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Gemini generates MCQs with correct answers</a:t>
            </a:r>
            <a:endParaRPr lang="en-US" sz="1250" dirty="0"/>
          </a:p>
        </p:txBody>
      </p:sp>
      <p:sp>
        <p:nvSpPr>
          <p:cNvPr id="12" name="Shape 10"/>
          <p:cNvSpPr/>
          <p:nvPr/>
        </p:nvSpPr>
        <p:spPr>
          <a:xfrm>
            <a:off x="548640" y="3246120"/>
            <a:ext cx="411480" cy="411480"/>
          </a:xfrm>
          <a:prstGeom prst="ellipse">
            <a:avLst/>
          </a:prstGeom>
          <a:solidFill>
            <a:srgbClr val="1FD1A5"/>
          </a:solidFill>
          <a:ln w="12700">
            <a:solidFill>
              <a:srgbClr val="1FD1A5"/>
            </a:solidFill>
            <a:prstDash val="solid"/>
          </a:ln>
        </p:spPr>
      </p:sp>
      <p:sp>
        <p:nvSpPr>
          <p:cNvPr id="13" name="Text 11"/>
          <p:cNvSpPr txBox="1"/>
          <p:nvPr/>
        </p:nvSpPr>
        <p:spPr>
          <a:xfrm>
            <a:off x="548640" y="3246120"/>
            <a:ext cx="411480" cy="411480"/>
          </a:xfrm>
          <a:prstGeom prst="rect">
            <a:avLst/>
          </a:prstGeom>
          <a:noFill/>
          <a:ln/>
        </p:spPr>
        <p:txBody>
          <a:bodyPr wrap="square" lIns="0" tIns="0" rIns="0" bIns="0" rtlCol="0" anchor="ctr"/>
          <a:lstStyle/>
          <a:p>
            <a:pPr algn="ctr" indent="0" marL="0">
              <a:buNone/>
            </a:pPr>
            <a:r>
              <a:rPr lang="en-US" sz="1400" b="1" dirty="0">
                <a:solidFill>
                  <a:srgbClr val="033638"/>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097280" y="3200400"/>
            <a:ext cx="347472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Student attempts the quiz in the app</a:t>
            </a:r>
            <a:endParaRPr lang="en-US" sz="1250" dirty="0"/>
          </a:p>
        </p:txBody>
      </p:sp>
      <p:sp>
        <p:nvSpPr>
          <p:cNvPr id="15" name="Shape 13"/>
          <p:cNvSpPr/>
          <p:nvPr/>
        </p:nvSpPr>
        <p:spPr>
          <a:xfrm>
            <a:off x="548640" y="3977640"/>
            <a:ext cx="411480" cy="411480"/>
          </a:xfrm>
          <a:prstGeom prst="ellipse">
            <a:avLst/>
          </a:prstGeom>
          <a:solidFill>
            <a:srgbClr val="1FD1A5"/>
          </a:solidFill>
          <a:ln w="12700">
            <a:solidFill>
              <a:srgbClr val="1FD1A5"/>
            </a:solidFill>
            <a:prstDash val="solid"/>
          </a:ln>
        </p:spPr>
      </p:sp>
      <p:sp>
        <p:nvSpPr>
          <p:cNvPr id="16" name="Text 14"/>
          <p:cNvSpPr txBox="1"/>
          <p:nvPr/>
        </p:nvSpPr>
        <p:spPr>
          <a:xfrm>
            <a:off x="548640" y="3977640"/>
            <a:ext cx="411480" cy="411480"/>
          </a:xfrm>
          <a:prstGeom prst="rect">
            <a:avLst/>
          </a:prstGeom>
          <a:noFill/>
          <a:ln/>
        </p:spPr>
        <p:txBody>
          <a:bodyPr wrap="square" lIns="0" tIns="0" rIns="0" bIns="0" rtlCol="0" anchor="ctr"/>
          <a:lstStyle/>
          <a:p>
            <a:pPr algn="ctr" indent="0" marL="0">
              <a:buNone/>
            </a:pPr>
            <a:r>
              <a:rPr lang="en-US" sz="1400" b="1" dirty="0">
                <a:solidFill>
                  <a:srgbClr val="033638"/>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097280" y="3931920"/>
            <a:ext cx="347472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Score is shown instantly and saved for progress</a:t>
            </a:r>
            <a:endParaRPr lang="en-US" sz="1250" dirty="0"/>
          </a:p>
        </p:txBody>
      </p:sp>
      <p:sp>
        <p:nvSpPr>
          <p:cNvPr id="18" name="Shape 16"/>
          <p:cNvSpPr/>
          <p:nvPr/>
        </p:nvSpPr>
        <p:spPr>
          <a:xfrm>
            <a:off x="4937760" y="1371600"/>
            <a:ext cx="3657600" cy="1554480"/>
          </a:xfrm>
          <a:prstGeom prst="roundRect">
            <a:avLst>
              <a:gd name="adj" fmla="val 5882"/>
            </a:avLst>
          </a:prstGeom>
          <a:solidFill>
            <a:srgbClr val="0A4A4E"/>
          </a:solidFill>
          <a:ln w="12700">
            <a:solidFill>
              <a:srgbClr val="0A4A4E"/>
            </a:solidFill>
            <a:prstDash val="solid"/>
          </a:ln>
        </p:spPr>
      </p:sp>
      <p:sp>
        <p:nvSpPr>
          <p:cNvPr id="19" name="Text 17"/>
          <p:cNvSpPr txBox="1"/>
          <p:nvPr/>
        </p:nvSpPr>
        <p:spPr>
          <a:xfrm>
            <a:off x="5120640" y="1481328"/>
            <a:ext cx="3291840" cy="365760"/>
          </a:xfrm>
          <a:prstGeom prst="rect">
            <a:avLst/>
          </a:prstGeom>
          <a:noFill/>
          <a:ln/>
        </p:spPr>
        <p:txBody>
          <a:bodyPr wrap="square" lIns="0" tIns="0" rIns="0" bIns="0" rtlCol="0" anchor="ctr"/>
          <a:lstStyle/>
          <a:p>
            <a:pPr indent="0" marL="0">
              <a:buNone/>
            </a:pPr>
            <a:r>
              <a:rPr lang="en-US" sz="1300" b="1" dirty="0">
                <a:solidFill>
                  <a:srgbClr val="1FD1A5"/>
                </a:solidFill>
                <a:latin typeface="Calibri" pitchFamily="34" charset="0"/>
                <a:ea typeface="Calibri" pitchFamily="34" charset="-122"/>
                <a:cs typeface="Calibri" pitchFamily="34" charset="-120"/>
              </a:rPr>
              <a:t>Sample prompt — Quiz</a:t>
            </a:r>
            <a:endParaRPr lang="en-US" sz="1300" dirty="0"/>
          </a:p>
        </p:txBody>
      </p:sp>
      <p:sp>
        <p:nvSpPr>
          <p:cNvPr id="20" name="Text 18"/>
          <p:cNvSpPr txBox="1"/>
          <p:nvPr/>
        </p:nvSpPr>
        <p:spPr>
          <a:xfrm>
            <a:off x="5120640" y="1874520"/>
            <a:ext cx="329184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“Generate 5 MCQs with answers on [topic], difficulty: [level]”</a:t>
            </a:r>
            <a:endParaRPr lang="en-US" sz="1300" dirty="0"/>
          </a:p>
        </p:txBody>
      </p:sp>
      <p:sp>
        <p:nvSpPr>
          <p:cNvPr id="21" name="Shape 19"/>
          <p:cNvSpPr/>
          <p:nvPr/>
        </p:nvSpPr>
        <p:spPr>
          <a:xfrm>
            <a:off x="4937760" y="3108960"/>
            <a:ext cx="3657600" cy="1371600"/>
          </a:xfrm>
          <a:prstGeom prst="roundRect">
            <a:avLst>
              <a:gd name="adj" fmla="val 6667"/>
            </a:avLst>
          </a:prstGeom>
          <a:solidFill>
            <a:srgbClr val="0A4A4E"/>
          </a:solidFill>
          <a:ln w="12700">
            <a:solidFill>
              <a:srgbClr val="0A4A4E"/>
            </a:solidFill>
            <a:prstDash val="solid"/>
          </a:ln>
        </p:spPr>
      </p:sp>
      <p:sp>
        <p:nvSpPr>
          <p:cNvPr id="22" name="Text 20"/>
          <p:cNvSpPr txBox="1"/>
          <p:nvPr/>
        </p:nvSpPr>
        <p:spPr>
          <a:xfrm>
            <a:off x="5120640" y="3218688"/>
            <a:ext cx="3291840" cy="365760"/>
          </a:xfrm>
          <a:prstGeom prst="rect">
            <a:avLst/>
          </a:prstGeom>
          <a:noFill/>
          <a:ln/>
        </p:spPr>
        <p:txBody>
          <a:bodyPr wrap="square" lIns="0" tIns="0" rIns="0" bIns="0" rtlCol="0" anchor="ctr"/>
          <a:lstStyle/>
          <a:p>
            <a:pPr indent="0" marL="0">
              <a:buNone/>
            </a:pPr>
            <a:r>
              <a:rPr lang="en-US" sz="1300" b="1" dirty="0">
                <a:solidFill>
                  <a:srgbClr val="1FD1A5"/>
                </a:solidFill>
                <a:latin typeface="Calibri" pitchFamily="34" charset="0"/>
                <a:ea typeface="Calibri" pitchFamily="34" charset="-122"/>
                <a:cs typeface="Calibri" pitchFamily="34" charset="-120"/>
              </a:rPr>
              <a:t>Benefit</a:t>
            </a:r>
            <a:endParaRPr lang="en-US" sz="1300" dirty="0"/>
          </a:p>
        </p:txBody>
      </p:sp>
      <p:sp>
        <p:nvSpPr>
          <p:cNvPr id="23" name="Text 21"/>
          <p:cNvSpPr txBox="1"/>
          <p:nvPr/>
        </p:nvSpPr>
        <p:spPr>
          <a:xfrm>
            <a:off x="5120640" y="3611880"/>
            <a:ext cx="3291840" cy="7772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Saves teachers’ prep time and shows students exactly where they need more practice.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33638"/>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Summarizer</a:t>
            </a:r>
            <a:endParaRPr lang="en-US" sz="2800" dirty="0"/>
          </a:p>
        </p:txBody>
      </p:sp>
      <p:sp>
        <p:nvSpPr>
          <p:cNvPr id="3" name="Text 1"/>
          <p:cNvSpPr txBox="1"/>
          <p:nvPr/>
        </p:nvSpPr>
        <p:spPr>
          <a:xfrm>
            <a:off x="7223760" y="4709160"/>
            <a:ext cx="1463040" cy="274320"/>
          </a:xfrm>
          <a:prstGeom prst="rect">
            <a:avLst/>
          </a:prstGeom>
          <a:noFill/>
          <a:ln/>
        </p:spPr>
        <p:txBody>
          <a:bodyPr wrap="square" lIns="0" tIns="0" rIns="0" bIns="0" rtlCol="0" anchor="ctr"/>
          <a:lstStyle/>
          <a:p>
            <a:pPr algn="r" indent="0" marL="0">
              <a:buNone/>
            </a:pPr>
            <a:r>
              <a:rPr lang="en-US" sz="1000" dirty="0">
                <a:solidFill>
                  <a:srgbClr val="CDE9E5"/>
                </a:solidFill>
                <a:latin typeface="Calibri" pitchFamily="34" charset="0"/>
                <a:ea typeface="Calibri" pitchFamily="34" charset="-122"/>
                <a:cs typeface="Calibri" pitchFamily="34" charset="-120"/>
              </a:rPr>
              <a:t>EduGenie • 7</a:t>
            </a:r>
            <a:endParaRPr lang="en-US" sz="1000" dirty="0"/>
          </a:p>
        </p:txBody>
      </p:sp>
      <p:sp>
        <p:nvSpPr>
          <p:cNvPr id="4" name="Text 2"/>
          <p:cNvSpPr txBox="1"/>
          <p:nvPr/>
        </p:nvSpPr>
        <p:spPr>
          <a:xfrm>
            <a:off x="548640" y="868680"/>
            <a:ext cx="8046720" cy="320040"/>
          </a:xfrm>
          <a:prstGeom prst="rect">
            <a:avLst/>
          </a:prstGeom>
          <a:noFill/>
          <a:ln/>
        </p:spPr>
        <p:txBody>
          <a:bodyPr wrap="square" lIns="0" tIns="0" rIns="0" bIns="0" rtlCol="0" anchor="ctr"/>
          <a:lstStyle/>
          <a:p>
            <a:pPr indent="0" marL="0">
              <a:buNone/>
            </a:pPr>
            <a:r>
              <a:rPr lang="en-US" sz="1400" i="1" dirty="0">
                <a:solidFill>
                  <a:srgbClr val="1FD1A5"/>
                </a:solidFill>
                <a:latin typeface="Calibri" pitchFamily="34" charset="0"/>
                <a:ea typeface="Calibri" pitchFamily="34" charset="-122"/>
                <a:cs typeface="Calibri" pitchFamily="34" charset="-120"/>
              </a:rPr>
              <a:t>Long notes turned into quick revision points</a:t>
            </a:r>
            <a:endParaRPr lang="en-US" sz="1400" dirty="0"/>
          </a:p>
        </p:txBody>
      </p:sp>
      <p:sp>
        <p:nvSpPr>
          <p:cNvPr id="5" name="Text 3"/>
          <p:cNvSpPr txBox="1"/>
          <p:nvPr/>
        </p:nvSpPr>
        <p:spPr>
          <a:xfrm>
            <a:off x="548640" y="1371600"/>
            <a:ext cx="4023360" cy="274320"/>
          </a:xfrm>
          <a:prstGeom prst="rect">
            <a:avLst/>
          </a:prstGeom>
          <a:noFill/>
          <a:ln/>
        </p:spPr>
        <p:txBody>
          <a:bodyPr wrap="square" lIns="0" tIns="0" rIns="0" bIns="0" rtlCol="0" anchor="ctr"/>
          <a:lstStyle/>
          <a:p>
            <a:pPr indent="0" marL="0">
              <a:buNone/>
            </a:pPr>
            <a:r>
              <a:rPr lang="en-US" sz="1400" b="1" dirty="0">
                <a:solidFill>
                  <a:srgbClr val="1FD1A5"/>
                </a:solidFill>
                <a:latin typeface="Calibri" pitchFamily="34" charset="0"/>
                <a:ea typeface="Calibri" pitchFamily="34" charset="-122"/>
                <a:cs typeface="Calibri" pitchFamily="34" charset="-120"/>
              </a:rPr>
              <a:t>How it works</a:t>
            </a:r>
            <a:endParaRPr lang="en-US" sz="1400" dirty="0"/>
          </a:p>
        </p:txBody>
      </p:sp>
      <p:sp>
        <p:nvSpPr>
          <p:cNvPr id="6" name="Shape 4"/>
          <p:cNvSpPr/>
          <p:nvPr/>
        </p:nvSpPr>
        <p:spPr>
          <a:xfrm>
            <a:off x="548640" y="1783080"/>
            <a:ext cx="411480" cy="411480"/>
          </a:xfrm>
          <a:prstGeom prst="ellipse">
            <a:avLst/>
          </a:prstGeom>
          <a:solidFill>
            <a:srgbClr val="1FD1A5"/>
          </a:solidFill>
          <a:ln w="12700">
            <a:solidFill>
              <a:srgbClr val="1FD1A5"/>
            </a:solidFill>
            <a:prstDash val="solid"/>
          </a:ln>
        </p:spPr>
      </p:sp>
      <p:sp>
        <p:nvSpPr>
          <p:cNvPr id="7" name="Text 5"/>
          <p:cNvSpPr txBox="1"/>
          <p:nvPr/>
        </p:nvSpPr>
        <p:spPr>
          <a:xfrm>
            <a:off x="548640" y="1783080"/>
            <a:ext cx="411480" cy="411480"/>
          </a:xfrm>
          <a:prstGeom prst="rect">
            <a:avLst/>
          </a:prstGeom>
          <a:noFill/>
          <a:ln/>
        </p:spPr>
        <p:txBody>
          <a:bodyPr wrap="square" lIns="0" tIns="0" rIns="0" bIns="0" rtlCol="0" anchor="ctr"/>
          <a:lstStyle/>
          <a:p>
            <a:pPr algn="ctr" indent="0" marL="0">
              <a:buNone/>
            </a:pPr>
            <a:r>
              <a:rPr lang="en-US" sz="1400" b="1" dirty="0">
                <a:solidFill>
                  <a:srgbClr val="033638"/>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097280" y="1737360"/>
            <a:ext cx="347472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Student pastes notes or uploads a PDF</a:t>
            </a:r>
            <a:endParaRPr lang="en-US" sz="1250" dirty="0"/>
          </a:p>
        </p:txBody>
      </p:sp>
      <p:sp>
        <p:nvSpPr>
          <p:cNvPr id="9" name="Shape 7"/>
          <p:cNvSpPr/>
          <p:nvPr/>
        </p:nvSpPr>
        <p:spPr>
          <a:xfrm>
            <a:off x="548640" y="2514600"/>
            <a:ext cx="411480" cy="411480"/>
          </a:xfrm>
          <a:prstGeom prst="ellipse">
            <a:avLst/>
          </a:prstGeom>
          <a:solidFill>
            <a:srgbClr val="1FD1A5"/>
          </a:solidFill>
          <a:ln w="12700">
            <a:solidFill>
              <a:srgbClr val="1FD1A5"/>
            </a:solidFill>
            <a:prstDash val="solid"/>
          </a:ln>
        </p:spPr>
      </p:sp>
      <p:sp>
        <p:nvSpPr>
          <p:cNvPr id="10" name="Text 8"/>
          <p:cNvSpPr txBox="1"/>
          <p:nvPr/>
        </p:nvSpPr>
        <p:spPr>
          <a:xfrm>
            <a:off x="548640" y="2514600"/>
            <a:ext cx="411480" cy="411480"/>
          </a:xfrm>
          <a:prstGeom prst="rect">
            <a:avLst/>
          </a:prstGeom>
          <a:noFill/>
          <a:ln/>
        </p:spPr>
        <p:txBody>
          <a:bodyPr wrap="square" lIns="0" tIns="0" rIns="0" bIns="0" rtlCol="0" anchor="ctr"/>
          <a:lstStyle/>
          <a:p>
            <a:pPr algn="ctr" indent="0" marL="0">
              <a:buNone/>
            </a:pPr>
            <a:r>
              <a:rPr lang="en-US" sz="1400" b="1" dirty="0">
                <a:solidFill>
                  <a:srgbClr val="033638"/>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097280" y="2468880"/>
            <a:ext cx="347472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Backend extracts the text and sends it to Gemini</a:t>
            </a:r>
            <a:endParaRPr lang="en-US" sz="1250" dirty="0"/>
          </a:p>
        </p:txBody>
      </p:sp>
      <p:sp>
        <p:nvSpPr>
          <p:cNvPr id="12" name="Shape 10"/>
          <p:cNvSpPr/>
          <p:nvPr/>
        </p:nvSpPr>
        <p:spPr>
          <a:xfrm>
            <a:off x="548640" y="3246120"/>
            <a:ext cx="411480" cy="411480"/>
          </a:xfrm>
          <a:prstGeom prst="ellipse">
            <a:avLst/>
          </a:prstGeom>
          <a:solidFill>
            <a:srgbClr val="1FD1A5"/>
          </a:solidFill>
          <a:ln w="12700">
            <a:solidFill>
              <a:srgbClr val="1FD1A5"/>
            </a:solidFill>
            <a:prstDash val="solid"/>
          </a:ln>
        </p:spPr>
      </p:sp>
      <p:sp>
        <p:nvSpPr>
          <p:cNvPr id="13" name="Text 11"/>
          <p:cNvSpPr txBox="1"/>
          <p:nvPr/>
        </p:nvSpPr>
        <p:spPr>
          <a:xfrm>
            <a:off x="548640" y="3246120"/>
            <a:ext cx="411480" cy="411480"/>
          </a:xfrm>
          <a:prstGeom prst="rect">
            <a:avLst/>
          </a:prstGeom>
          <a:noFill/>
          <a:ln/>
        </p:spPr>
        <p:txBody>
          <a:bodyPr wrap="square" lIns="0" tIns="0" rIns="0" bIns="0" rtlCol="0" anchor="ctr"/>
          <a:lstStyle/>
          <a:p>
            <a:pPr algn="ctr" indent="0" marL="0">
              <a:buNone/>
            </a:pPr>
            <a:r>
              <a:rPr lang="en-US" sz="1400" b="1" dirty="0">
                <a:solidFill>
                  <a:srgbClr val="033638"/>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097280" y="3200400"/>
            <a:ext cx="347472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Gemini condenses it into key bullet points</a:t>
            </a:r>
            <a:endParaRPr lang="en-US" sz="1250" dirty="0"/>
          </a:p>
        </p:txBody>
      </p:sp>
      <p:sp>
        <p:nvSpPr>
          <p:cNvPr id="15" name="Shape 13"/>
          <p:cNvSpPr/>
          <p:nvPr/>
        </p:nvSpPr>
        <p:spPr>
          <a:xfrm>
            <a:off x="548640" y="3977640"/>
            <a:ext cx="411480" cy="411480"/>
          </a:xfrm>
          <a:prstGeom prst="ellipse">
            <a:avLst/>
          </a:prstGeom>
          <a:solidFill>
            <a:srgbClr val="1FD1A5"/>
          </a:solidFill>
          <a:ln w="12700">
            <a:solidFill>
              <a:srgbClr val="1FD1A5"/>
            </a:solidFill>
            <a:prstDash val="solid"/>
          </a:ln>
        </p:spPr>
      </p:sp>
      <p:sp>
        <p:nvSpPr>
          <p:cNvPr id="16" name="Text 14"/>
          <p:cNvSpPr txBox="1"/>
          <p:nvPr/>
        </p:nvSpPr>
        <p:spPr>
          <a:xfrm>
            <a:off x="548640" y="3977640"/>
            <a:ext cx="411480" cy="411480"/>
          </a:xfrm>
          <a:prstGeom prst="rect">
            <a:avLst/>
          </a:prstGeom>
          <a:noFill/>
          <a:ln/>
        </p:spPr>
        <p:txBody>
          <a:bodyPr wrap="square" lIns="0" tIns="0" rIns="0" bIns="0" rtlCol="0" anchor="ctr"/>
          <a:lstStyle/>
          <a:p>
            <a:pPr algn="ctr" indent="0" marL="0">
              <a:buNone/>
            </a:pPr>
            <a:r>
              <a:rPr lang="en-US" sz="1400" b="1" dirty="0">
                <a:solidFill>
                  <a:srgbClr val="033638"/>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097280" y="3931920"/>
            <a:ext cx="347472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Summary is displayed for fast revision</a:t>
            </a:r>
            <a:endParaRPr lang="en-US" sz="1250" dirty="0"/>
          </a:p>
        </p:txBody>
      </p:sp>
      <p:sp>
        <p:nvSpPr>
          <p:cNvPr id="18" name="Shape 16"/>
          <p:cNvSpPr/>
          <p:nvPr/>
        </p:nvSpPr>
        <p:spPr>
          <a:xfrm>
            <a:off x="4937760" y="1371600"/>
            <a:ext cx="3657600" cy="1554480"/>
          </a:xfrm>
          <a:prstGeom prst="roundRect">
            <a:avLst>
              <a:gd name="adj" fmla="val 5882"/>
            </a:avLst>
          </a:prstGeom>
          <a:solidFill>
            <a:srgbClr val="0A4A4E"/>
          </a:solidFill>
          <a:ln w="12700">
            <a:solidFill>
              <a:srgbClr val="0A4A4E"/>
            </a:solidFill>
            <a:prstDash val="solid"/>
          </a:ln>
        </p:spPr>
      </p:sp>
      <p:sp>
        <p:nvSpPr>
          <p:cNvPr id="19" name="Text 17"/>
          <p:cNvSpPr txBox="1"/>
          <p:nvPr/>
        </p:nvSpPr>
        <p:spPr>
          <a:xfrm>
            <a:off x="5120640" y="1481328"/>
            <a:ext cx="3291840" cy="365760"/>
          </a:xfrm>
          <a:prstGeom prst="rect">
            <a:avLst/>
          </a:prstGeom>
          <a:noFill/>
          <a:ln/>
        </p:spPr>
        <p:txBody>
          <a:bodyPr wrap="square" lIns="0" tIns="0" rIns="0" bIns="0" rtlCol="0" anchor="ctr"/>
          <a:lstStyle/>
          <a:p>
            <a:pPr indent="0" marL="0">
              <a:buNone/>
            </a:pPr>
            <a:r>
              <a:rPr lang="en-US" sz="1300" b="1" dirty="0">
                <a:solidFill>
                  <a:srgbClr val="1FD1A5"/>
                </a:solidFill>
                <a:latin typeface="Calibri" pitchFamily="34" charset="0"/>
                <a:ea typeface="Calibri" pitchFamily="34" charset="-122"/>
                <a:cs typeface="Calibri" pitchFamily="34" charset="-120"/>
              </a:rPr>
              <a:t>Sample prompt — Summary</a:t>
            </a:r>
            <a:endParaRPr lang="en-US" sz="1300" dirty="0"/>
          </a:p>
        </p:txBody>
      </p:sp>
      <p:sp>
        <p:nvSpPr>
          <p:cNvPr id="20" name="Text 18"/>
          <p:cNvSpPr txBox="1"/>
          <p:nvPr/>
        </p:nvSpPr>
        <p:spPr>
          <a:xfrm>
            <a:off x="5120640" y="1874520"/>
            <a:ext cx="329184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“Summarize these notes in 5 bullet points: [text]”</a:t>
            </a:r>
            <a:endParaRPr lang="en-US" sz="1300" dirty="0"/>
          </a:p>
        </p:txBody>
      </p:sp>
      <p:sp>
        <p:nvSpPr>
          <p:cNvPr id="21" name="Shape 19"/>
          <p:cNvSpPr/>
          <p:nvPr/>
        </p:nvSpPr>
        <p:spPr>
          <a:xfrm>
            <a:off x="4937760" y="3108960"/>
            <a:ext cx="3657600" cy="1371600"/>
          </a:xfrm>
          <a:prstGeom prst="roundRect">
            <a:avLst>
              <a:gd name="adj" fmla="val 6667"/>
            </a:avLst>
          </a:prstGeom>
          <a:solidFill>
            <a:srgbClr val="0A4A4E"/>
          </a:solidFill>
          <a:ln w="12700">
            <a:solidFill>
              <a:srgbClr val="0A4A4E"/>
            </a:solidFill>
            <a:prstDash val="solid"/>
          </a:ln>
        </p:spPr>
      </p:sp>
      <p:sp>
        <p:nvSpPr>
          <p:cNvPr id="22" name="Text 20"/>
          <p:cNvSpPr txBox="1"/>
          <p:nvPr/>
        </p:nvSpPr>
        <p:spPr>
          <a:xfrm>
            <a:off x="5120640" y="3218688"/>
            <a:ext cx="3291840" cy="365760"/>
          </a:xfrm>
          <a:prstGeom prst="rect">
            <a:avLst/>
          </a:prstGeom>
          <a:noFill/>
          <a:ln/>
        </p:spPr>
        <p:txBody>
          <a:bodyPr wrap="square" lIns="0" tIns="0" rIns="0" bIns="0" rtlCol="0" anchor="ctr"/>
          <a:lstStyle/>
          <a:p>
            <a:pPr indent="0" marL="0">
              <a:buNone/>
            </a:pPr>
            <a:r>
              <a:rPr lang="en-US" sz="1300" b="1" dirty="0">
                <a:solidFill>
                  <a:srgbClr val="1FD1A5"/>
                </a:solidFill>
                <a:latin typeface="Calibri" pitchFamily="34" charset="0"/>
                <a:ea typeface="Calibri" pitchFamily="34" charset="-122"/>
                <a:cs typeface="Calibri" pitchFamily="34" charset="-120"/>
              </a:rPr>
              <a:t>Benefit</a:t>
            </a:r>
            <a:endParaRPr lang="en-US" sz="1300" dirty="0"/>
          </a:p>
        </p:txBody>
      </p:sp>
      <p:sp>
        <p:nvSpPr>
          <p:cNvPr id="23" name="Text 21"/>
          <p:cNvSpPr txBox="1"/>
          <p:nvPr/>
        </p:nvSpPr>
        <p:spPr>
          <a:xfrm>
            <a:off x="5120640" y="3611880"/>
            <a:ext cx="3291840" cy="7772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Cuts revision time and helps students focus on what matters most before exams.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33638"/>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Learning Path (Study Planner)</a:t>
            </a:r>
            <a:endParaRPr lang="en-US" sz="2800" dirty="0"/>
          </a:p>
        </p:txBody>
      </p:sp>
      <p:sp>
        <p:nvSpPr>
          <p:cNvPr id="3" name="Text 1"/>
          <p:cNvSpPr txBox="1"/>
          <p:nvPr/>
        </p:nvSpPr>
        <p:spPr>
          <a:xfrm>
            <a:off x="7223760" y="4709160"/>
            <a:ext cx="1463040" cy="274320"/>
          </a:xfrm>
          <a:prstGeom prst="rect">
            <a:avLst/>
          </a:prstGeom>
          <a:noFill/>
          <a:ln/>
        </p:spPr>
        <p:txBody>
          <a:bodyPr wrap="square" lIns="0" tIns="0" rIns="0" bIns="0" rtlCol="0" anchor="ctr"/>
          <a:lstStyle/>
          <a:p>
            <a:pPr algn="r" indent="0" marL="0">
              <a:buNone/>
            </a:pPr>
            <a:r>
              <a:rPr lang="en-US" sz="1000" dirty="0">
                <a:solidFill>
                  <a:srgbClr val="CDE9E5"/>
                </a:solidFill>
                <a:latin typeface="Calibri" pitchFamily="34" charset="0"/>
                <a:ea typeface="Calibri" pitchFamily="34" charset="-122"/>
                <a:cs typeface="Calibri" pitchFamily="34" charset="-120"/>
              </a:rPr>
              <a:t>EduGenie • 8</a:t>
            </a:r>
            <a:endParaRPr lang="en-US" sz="1000" dirty="0"/>
          </a:p>
        </p:txBody>
      </p:sp>
      <p:sp>
        <p:nvSpPr>
          <p:cNvPr id="4" name="Text 2"/>
          <p:cNvSpPr txBox="1"/>
          <p:nvPr/>
        </p:nvSpPr>
        <p:spPr>
          <a:xfrm>
            <a:off x="548640" y="868680"/>
            <a:ext cx="8046720" cy="320040"/>
          </a:xfrm>
          <a:prstGeom prst="rect">
            <a:avLst/>
          </a:prstGeom>
          <a:noFill/>
          <a:ln/>
        </p:spPr>
        <p:txBody>
          <a:bodyPr wrap="square" lIns="0" tIns="0" rIns="0" bIns="0" rtlCol="0" anchor="ctr"/>
          <a:lstStyle/>
          <a:p>
            <a:pPr indent="0" marL="0">
              <a:buNone/>
            </a:pPr>
            <a:r>
              <a:rPr lang="en-US" sz="1400" i="1" dirty="0">
                <a:solidFill>
                  <a:srgbClr val="1FD1A5"/>
                </a:solidFill>
                <a:latin typeface="Calibri" pitchFamily="34" charset="0"/>
                <a:ea typeface="Calibri" pitchFamily="34" charset="-122"/>
                <a:cs typeface="Calibri" pitchFamily="34" charset="-120"/>
              </a:rPr>
              <a:t>A day-wise plan built around your exam dates</a:t>
            </a:r>
            <a:endParaRPr lang="en-US" sz="1400" dirty="0"/>
          </a:p>
        </p:txBody>
      </p:sp>
      <p:sp>
        <p:nvSpPr>
          <p:cNvPr id="5" name="Text 3"/>
          <p:cNvSpPr txBox="1"/>
          <p:nvPr/>
        </p:nvSpPr>
        <p:spPr>
          <a:xfrm>
            <a:off x="548640" y="1371600"/>
            <a:ext cx="4023360" cy="274320"/>
          </a:xfrm>
          <a:prstGeom prst="rect">
            <a:avLst/>
          </a:prstGeom>
          <a:noFill/>
          <a:ln/>
        </p:spPr>
        <p:txBody>
          <a:bodyPr wrap="square" lIns="0" tIns="0" rIns="0" bIns="0" rtlCol="0" anchor="ctr"/>
          <a:lstStyle/>
          <a:p>
            <a:pPr indent="0" marL="0">
              <a:buNone/>
            </a:pPr>
            <a:r>
              <a:rPr lang="en-US" sz="1400" b="1" dirty="0">
                <a:solidFill>
                  <a:srgbClr val="1FD1A5"/>
                </a:solidFill>
                <a:latin typeface="Calibri" pitchFamily="34" charset="0"/>
                <a:ea typeface="Calibri" pitchFamily="34" charset="-122"/>
                <a:cs typeface="Calibri" pitchFamily="34" charset="-120"/>
              </a:rPr>
              <a:t>How it works</a:t>
            </a:r>
            <a:endParaRPr lang="en-US" sz="1400" dirty="0"/>
          </a:p>
        </p:txBody>
      </p:sp>
      <p:sp>
        <p:nvSpPr>
          <p:cNvPr id="6" name="Shape 4"/>
          <p:cNvSpPr/>
          <p:nvPr/>
        </p:nvSpPr>
        <p:spPr>
          <a:xfrm>
            <a:off x="548640" y="1783080"/>
            <a:ext cx="411480" cy="411480"/>
          </a:xfrm>
          <a:prstGeom prst="ellipse">
            <a:avLst/>
          </a:prstGeom>
          <a:solidFill>
            <a:srgbClr val="1FD1A5"/>
          </a:solidFill>
          <a:ln w="12700">
            <a:solidFill>
              <a:srgbClr val="1FD1A5"/>
            </a:solidFill>
            <a:prstDash val="solid"/>
          </a:ln>
        </p:spPr>
      </p:sp>
      <p:sp>
        <p:nvSpPr>
          <p:cNvPr id="7" name="Text 5"/>
          <p:cNvSpPr txBox="1"/>
          <p:nvPr/>
        </p:nvSpPr>
        <p:spPr>
          <a:xfrm>
            <a:off x="548640" y="1783080"/>
            <a:ext cx="411480" cy="411480"/>
          </a:xfrm>
          <a:prstGeom prst="rect">
            <a:avLst/>
          </a:prstGeom>
          <a:noFill/>
          <a:ln/>
        </p:spPr>
        <p:txBody>
          <a:bodyPr wrap="square" lIns="0" tIns="0" rIns="0" bIns="0" rtlCol="0" anchor="ctr"/>
          <a:lstStyle/>
          <a:p>
            <a:pPr algn="ctr" indent="0" marL="0">
              <a:buNone/>
            </a:pPr>
            <a:r>
              <a:rPr lang="en-US" sz="1400" b="1" dirty="0">
                <a:solidFill>
                  <a:srgbClr val="033638"/>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097280" y="1737360"/>
            <a:ext cx="347472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Student enters subjects, exam dates and topics left</a:t>
            </a:r>
            <a:endParaRPr lang="en-US" sz="1250" dirty="0"/>
          </a:p>
        </p:txBody>
      </p:sp>
      <p:sp>
        <p:nvSpPr>
          <p:cNvPr id="9" name="Shape 7"/>
          <p:cNvSpPr/>
          <p:nvPr/>
        </p:nvSpPr>
        <p:spPr>
          <a:xfrm>
            <a:off x="548640" y="2514600"/>
            <a:ext cx="411480" cy="411480"/>
          </a:xfrm>
          <a:prstGeom prst="ellipse">
            <a:avLst/>
          </a:prstGeom>
          <a:solidFill>
            <a:srgbClr val="1FD1A5"/>
          </a:solidFill>
          <a:ln w="12700">
            <a:solidFill>
              <a:srgbClr val="1FD1A5"/>
            </a:solidFill>
            <a:prstDash val="solid"/>
          </a:ln>
        </p:spPr>
      </p:sp>
      <p:sp>
        <p:nvSpPr>
          <p:cNvPr id="10" name="Text 8"/>
          <p:cNvSpPr txBox="1"/>
          <p:nvPr/>
        </p:nvSpPr>
        <p:spPr>
          <a:xfrm>
            <a:off x="548640" y="2514600"/>
            <a:ext cx="411480" cy="411480"/>
          </a:xfrm>
          <a:prstGeom prst="rect">
            <a:avLst/>
          </a:prstGeom>
          <a:noFill/>
          <a:ln/>
        </p:spPr>
        <p:txBody>
          <a:bodyPr wrap="square" lIns="0" tIns="0" rIns="0" bIns="0" rtlCol="0" anchor="ctr"/>
          <a:lstStyle/>
          <a:p>
            <a:pPr algn="ctr" indent="0" marL="0">
              <a:buNone/>
            </a:pPr>
            <a:r>
              <a:rPr lang="en-US" sz="1400" b="1" dirty="0">
                <a:solidFill>
                  <a:srgbClr val="033638"/>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097280" y="2468880"/>
            <a:ext cx="347472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Gemini calculates the days available</a:t>
            </a:r>
            <a:endParaRPr lang="en-US" sz="1250" dirty="0"/>
          </a:p>
        </p:txBody>
      </p:sp>
      <p:sp>
        <p:nvSpPr>
          <p:cNvPr id="12" name="Shape 10"/>
          <p:cNvSpPr/>
          <p:nvPr/>
        </p:nvSpPr>
        <p:spPr>
          <a:xfrm>
            <a:off x="548640" y="3246120"/>
            <a:ext cx="411480" cy="411480"/>
          </a:xfrm>
          <a:prstGeom prst="ellipse">
            <a:avLst/>
          </a:prstGeom>
          <a:solidFill>
            <a:srgbClr val="1FD1A5"/>
          </a:solidFill>
          <a:ln w="12700">
            <a:solidFill>
              <a:srgbClr val="1FD1A5"/>
            </a:solidFill>
            <a:prstDash val="solid"/>
          </a:ln>
        </p:spPr>
      </p:sp>
      <p:sp>
        <p:nvSpPr>
          <p:cNvPr id="13" name="Text 11"/>
          <p:cNvSpPr txBox="1"/>
          <p:nvPr/>
        </p:nvSpPr>
        <p:spPr>
          <a:xfrm>
            <a:off x="548640" y="3246120"/>
            <a:ext cx="411480" cy="411480"/>
          </a:xfrm>
          <a:prstGeom prst="rect">
            <a:avLst/>
          </a:prstGeom>
          <a:noFill/>
          <a:ln/>
        </p:spPr>
        <p:txBody>
          <a:bodyPr wrap="square" lIns="0" tIns="0" rIns="0" bIns="0" rtlCol="0" anchor="ctr"/>
          <a:lstStyle/>
          <a:p>
            <a:pPr algn="ctr" indent="0" marL="0">
              <a:buNone/>
            </a:pPr>
            <a:r>
              <a:rPr lang="en-US" sz="1400" b="1" dirty="0">
                <a:solidFill>
                  <a:srgbClr val="033638"/>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097280" y="3200400"/>
            <a:ext cx="347472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 day-wise study plan is generated</a:t>
            </a:r>
            <a:endParaRPr lang="en-US" sz="1250" dirty="0"/>
          </a:p>
        </p:txBody>
      </p:sp>
      <p:sp>
        <p:nvSpPr>
          <p:cNvPr id="15" name="Shape 13"/>
          <p:cNvSpPr/>
          <p:nvPr/>
        </p:nvSpPr>
        <p:spPr>
          <a:xfrm>
            <a:off x="548640" y="3977640"/>
            <a:ext cx="411480" cy="411480"/>
          </a:xfrm>
          <a:prstGeom prst="ellipse">
            <a:avLst/>
          </a:prstGeom>
          <a:solidFill>
            <a:srgbClr val="1FD1A5"/>
          </a:solidFill>
          <a:ln w="12700">
            <a:solidFill>
              <a:srgbClr val="1FD1A5"/>
            </a:solidFill>
            <a:prstDash val="solid"/>
          </a:ln>
        </p:spPr>
      </p:sp>
      <p:sp>
        <p:nvSpPr>
          <p:cNvPr id="16" name="Text 14"/>
          <p:cNvSpPr txBox="1"/>
          <p:nvPr/>
        </p:nvSpPr>
        <p:spPr>
          <a:xfrm>
            <a:off x="548640" y="3977640"/>
            <a:ext cx="411480" cy="411480"/>
          </a:xfrm>
          <a:prstGeom prst="rect">
            <a:avLst/>
          </a:prstGeom>
          <a:noFill/>
          <a:ln/>
        </p:spPr>
        <p:txBody>
          <a:bodyPr wrap="square" lIns="0" tIns="0" rIns="0" bIns="0" rtlCol="0" anchor="ctr"/>
          <a:lstStyle/>
          <a:p>
            <a:pPr algn="ctr" indent="0" marL="0">
              <a:buNone/>
            </a:pPr>
            <a:r>
              <a:rPr lang="en-US" sz="1400" b="1" dirty="0">
                <a:solidFill>
                  <a:srgbClr val="033638"/>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097280" y="3931920"/>
            <a:ext cx="3474720" cy="5486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Progress data updates the plan over time</a:t>
            </a:r>
            <a:endParaRPr lang="en-US" sz="1250" dirty="0"/>
          </a:p>
        </p:txBody>
      </p:sp>
      <p:sp>
        <p:nvSpPr>
          <p:cNvPr id="18" name="Shape 16"/>
          <p:cNvSpPr/>
          <p:nvPr/>
        </p:nvSpPr>
        <p:spPr>
          <a:xfrm>
            <a:off x="4937760" y="1371600"/>
            <a:ext cx="3657600" cy="1554480"/>
          </a:xfrm>
          <a:prstGeom prst="roundRect">
            <a:avLst>
              <a:gd name="adj" fmla="val 5882"/>
            </a:avLst>
          </a:prstGeom>
          <a:solidFill>
            <a:srgbClr val="0A4A4E"/>
          </a:solidFill>
          <a:ln w="12700">
            <a:solidFill>
              <a:srgbClr val="0A4A4E"/>
            </a:solidFill>
            <a:prstDash val="solid"/>
          </a:ln>
        </p:spPr>
      </p:sp>
      <p:sp>
        <p:nvSpPr>
          <p:cNvPr id="19" name="Text 17"/>
          <p:cNvSpPr txBox="1"/>
          <p:nvPr/>
        </p:nvSpPr>
        <p:spPr>
          <a:xfrm>
            <a:off x="5120640" y="1481328"/>
            <a:ext cx="3291840" cy="365760"/>
          </a:xfrm>
          <a:prstGeom prst="rect">
            <a:avLst/>
          </a:prstGeom>
          <a:noFill/>
          <a:ln/>
        </p:spPr>
        <p:txBody>
          <a:bodyPr wrap="square" lIns="0" tIns="0" rIns="0" bIns="0" rtlCol="0" anchor="ctr"/>
          <a:lstStyle/>
          <a:p>
            <a:pPr indent="0" marL="0">
              <a:buNone/>
            </a:pPr>
            <a:r>
              <a:rPr lang="en-US" sz="1300" b="1" dirty="0">
                <a:solidFill>
                  <a:srgbClr val="1FD1A5"/>
                </a:solidFill>
                <a:latin typeface="Calibri" pitchFamily="34" charset="0"/>
                <a:ea typeface="Calibri" pitchFamily="34" charset="-122"/>
                <a:cs typeface="Calibri" pitchFamily="34" charset="-120"/>
              </a:rPr>
              <a:t>Sample prompt — Planner</a:t>
            </a:r>
            <a:endParaRPr lang="en-US" sz="1300" dirty="0"/>
          </a:p>
        </p:txBody>
      </p:sp>
      <p:sp>
        <p:nvSpPr>
          <p:cNvPr id="20" name="Text 18"/>
          <p:cNvSpPr txBox="1"/>
          <p:nvPr/>
        </p:nvSpPr>
        <p:spPr>
          <a:xfrm>
            <a:off x="5120640" y="1874520"/>
            <a:ext cx="329184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“Create a day-wise study plan for [subjects] with exams on [dates]; topics left: [list]”</a:t>
            </a:r>
            <a:endParaRPr lang="en-US" sz="1300" dirty="0"/>
          </a:p>
        </p:txBody>
      </p:sp>
      <p:sp>
        <p:nvSpPr>
          <p:cNvPr id="21" name="Shape 19"/>
          <p:cNvSpPr/>
          <p:nvPr/>
        </p:nvSpPr>
        <p:spPr>
          <a:xfrm>
            <a:off x="4937760" y="3108960"/>
            <a:ext cx="3657600" cy="1371600"/>
          </a:xfrm>
          <a:prstGeom prst="roundRect">
            <a:avLst>
              <a:gd name="adj" fmla="val 6667"/>
            </a:avLst>
          </a:prstGeom>
          <a:solidFill>
            <a:srgbClr val="0A4A4E"/>
          </a:solidFill>
          <a:ln w="12700">
            <a:solidFill>
              <a:srgbClr val="0A4A4E"/>
            </a:solidFill>
            <a:prstDash val="solid"/>
          </a:ln>
        </p:spPr>
      </p:sp>
      <p:sp>
        <p:nvSpPr>
          <p:cNvPr id="22" name="Text 20"/>
          <p:cNvSpPr txBox="1"/>
          <p:nvPr/>
        </p:nvSpPr>
        <p:spPr>
          <a:xfrm>
            <a:off x="5120640" y="3218688"/>
            <a:ext cx="3291840" cy="365760"/>
          </a:xfrm>
          <a:prstGeom prst="rect">
            <a:avLst/>
          </a:prstGeom>
          <a:noFill/>
          <a:ln/>
        </p:spPr>
        <p:txBody>
          <a:bodyPr wrap="square" lIns="0" tIns="0" rIns="0" bIns="0" rtlCol="0" anchor="ctr"/>
          <a:lstStyle/>
          <a:p>
            <a:pPr indent="0" marL="0">
              <a:buNone/>
            </a:pPr>
            <a:r>
              <a:rPr lang="en-US" sz="1300" b="1" dirty="0">
                <a:solidFill>
                  <a:srgbClr val="1FD1A5"/>
                </a:solidFill>
                <a:latin typeface="Calibri" pitchFamily="34" charset="0"/>
                <a:ea typeface="Calibri" pitchFamily="34" charset="-122"/>
                <a:cs typeface="Calibri" pitchFamily="34" charset="-120"/>
              </a:rPr>
              <a:t>Benefit</a:t>
            </a:r>
            <a:endParaRPr lang="en-US" sz="1300" dirty="0"/>
          </a:p>
        </p:txBody>
      </p:sp>
      <p:sp>
        <p:nvSpPr>
          <p:cNvPr id="23" name="Text 21"/>
          <p:cNvSpPr txBox="1"/>
          <p:nvPr/>
        </p:nvSpPr>
        <p:spPr>
          <a:xfrm>
            <a:off x="5120640" y="3611880"/>
            <a:ext cx="3291840" cy="7772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Removes guesswork — students always know what to study today and stay on track.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33638"/>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Advantages</a:t>
            </a:r>
            <a:endParaRPr lang="en-US" sz="2800" dirty="0"/>
          </a:p>
        </p:txBody>
      </p:sp>
      <p:sp>
        <p:nvSpPr>
          <p:cNvPr id="3" name="Text 1"/>
          <p:cNvSpPr txBox="1"/>
          <p:nvPr/>
        </p:nvSpPr>
        <p:spPr>
          <a:xfrm>
            <a:off x="7223760" y="4709160"/>
            <a:ext cx="1463040" cy="274320"/>
          </a:xfrm>
          <a:prstGeom prst="rect">
            <a:avLst/>
          </a:prstGeom>
          <a:noFill/>
          <a:ln/>
        </p:spPr>
        <p:txBody>
          <a:bodyPr wrap="square" lIns="0" tIns="0" rIns="0" bIns="0" rtlCol="0" anchor="ctr"/>
          <a:lstStyle/>
          <a:p>
            <a:pPr algn="r" indent="0" marL="0">
              <a:buNone/>
            </a:pPr>
            <a:r>
              <a:rPr lang="en-US" sz="1000" dirty="0">
                <a:solidFill>
                  <a:srgbClr val="CDE9E5"/>
                </a:solidFill>
                <a:latin typeface="Calibri" pitchFamily="34" charset="0"/>
                <a:ea typeface="Calibri" pitchFamily="34" charset="-122"/>
                <a:cs typeface="Calibri" pitchFamily="34" charset="-120"/>
              </a:rPr>
              <a:t>EduGenie • 9</a:t>
            </a:r>
            <a:endParaRPr lang="en-US" sz="1000" dirty="0"/>
          </a:p>
        </p:txBody>
      </p:sp>
      <p:sp>
        <p:nvSpPr>
          <p:cNvPr id="4" name="Shape 2"/>
          <p:cNvSpPr/>
          <p:nvPr/>
        </p:nvSpPr>
        <p:spPr>
          <a:xfrm>
            <a:off x="548640" y="1188720"/>
            <a:ext cx="2529840" cy="1463040"/>
          </a:xfrm>
          <a:prstGeom prst="roundRect">
            <a:avLst>
              <a:gd name="adj" fmla="val 6250"/>
            </a:avLst>
          </a:prstGeom>
          <a:solidFill>
            <a:srgbClr val="0A4A4E"/>
          </a:solidFill>
          <a:ln w="12700">
            <a:solidFill>
              <a:srgbClr val="0A4A4E"/>
            </a:solidFill>
            <a:prstDash val="solid"/>
          </a:ln>
        </p:spPr>
      </p:sp>
      <p:sp>
        <p:nvSpPr>
          <p:cNvPr id="5" name="Text 3"/>
          <p:cNvSpPr txBox="1"/>
          <p:nvPr/>
        </p:nvSpPr>
        <p:spPr>
          <a:xfrm>
            <a:off x="731520" y="1298448"/>
            <a:ext cx="2164080" cy="365760"/>
          </a:xfrm>
          <a:prstGeom prst="rect">
            <a:avLst/>
          </a:prstGeom>
          <a:noFill/>
          <a:ln/>
        </p:spPr>
        <p:txBody>
          <a:bodyPr wrap="square" lIns="0" tIns="0" rIns="0" bIns="0" rtlCol="0" anchor="ctr"/>
          <a:lstStyle/>
          <a:p>
            <a:pPr indent="0" marL="0">
              <a:buNone/>
            </a:pPr>
            <a:r>
              <a:rPr lang="en-US" sz="1400" b="1" dirty="0">
                <a:solidFill>
                  <a:srgbClr val="1FD1A5"/>
                </a:solidFill>
                <a:latin typeface="Calibri" pitchFamily="34" charset="0"/>
                <a:ea typeface="Calibri" pitchFamily="34" charset="-122"/>
                <a:cs typeface="Calibri" pitchFamily="34" charset="-120"/>
              </a:rPr>
              <a:t>24/7 Doubt Support</a:t>
            </a:r>
            <a:endParaRPr lang="en-US" sz="1400" dirty="0"/>
          </a:p>
        </p:txBody>
      </p:sp>
      <p:sp>
        <p:nvSpPr>
          <p:cNvPr id="6" name="Text 4"/>
          <p:cNvSpPr txBox="1"/>
          <p:nvPr/>
        </p:nvSpPr>
        <p:spPr>
          <a:xfrm>
            <a:off x="731520" y="1691640"/>
            <a:ext cx="2164080" cy="8686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Instant answers any time, even outside class hours</a:t>
            </a:r>
            <a:endParaRPr lang="en-US" sz="1150" dirty="0"/>
          </a:p>
        </p:txBody>
      </p:sp>
      <p:sp>
        <p:nvSpPr>
          <p:cNvPr id="7" name="Shape 5"/>
          <p:cNvSpPr/>
          <p:nvPr/>
        </p:nvSpPr>
        <p:spPr>
          <a:xfrm>
            <a:off x="3307080" y="1188720"/>
            <a:ext cx="2529840" cy="1463040"/>
          </a:xfrm>
          <a:prstGeom prst="roundRect">
            <a:avLst>
              <a:gd name="adj" fmla="val 6250"/>
            </a:avLst>
          </a:prstGeom>
          <a:solidFill>
            <a:srgbClr val="0A4A4E"/>
          </a:solidFill>
          <a:ln w="12700">
            <a:solidFill>
              <a:srgbClr val="0A4A4E"/>
            </a:solidFill>
            <a:prstDash val="solid"/>
          </a:ln>
        </p:spPr>
      </p:sp>
      <p:sp>
        <p:nvSpPr>
          <p:cNvPr id="8" name="Text 6"/>
          <p:cNvSpPr txBox="1"/>
          <p:nvPr/>
        </p:nvSpPr>
        <p:spPr>
          <a:xfrm>
            <a:off x="3489960" y="1298448"/>
            <a:ext cx="2164080" cy="365760"/>
          </a:xfrm>
          <a:prstGeom prst="rect">
            <a:avLst/>
          </a:prstGeom>
          <a:noFill/>
          <a:ln/>
        </p:spPr>
        <p:txBody>
          <a:bodyPr wrap="square" lIns="0" tIns="0" rIns="0" bIns="0" rtlCol="0" anchor="ctr"/>
          <a:lstStyle/>
          <a:p>
            <a:pPr indent="0" marL="0">
              <a:buNone/>
            </a:pPr>
            <a:r>
              <a:rPr lang="en-US" sz="1400" b="1" dirty="0">
                <a:solidFill>
                  <a:srgbClr val="1FD1A5"/>
                </a:solidFill>
                <a:latin typeface="Calibri" pitchFamily="34" charset="0"/>
                <a:ea typeface="Calibri" pitchFamily="34" charset="-122"/>
                <a:cs typeface="Calibri" pitchFamily="34" charset="-120"/>
              </a:rPr>
              <a:t>Personalised Learning</a:t>
            </a:r>
            <a:endParaRPr lang="en-US" sz="1400" dirty="0"/>
          </a:p>
        </p:txBody>
      </p:sp>
      <p:sp>
        <p:nvSpPr>
          <p:cNvPr id="9" name="Text 7"/>
          <p:cNvSpPr txBox="1"/>
          <p:nvPr/>
        </p:nvSpPr>
        <p:spPr>
          <a:xfrm>
            <a:off x="3489960" y="1691640"/>
            <a:ext cx="2164080" cy="8686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Explanations and quizzes adapt to the learner’s level and pace</a:t>
            </a:r>
            <a:endParaRPr lang="en-US" sz="1150" dirty="0"/>
          </a:p>
        </p:txBody>
      </p:sp>
      <p:sp>
        <p:nvSpPr>
          <p:cNvPr id="10" name="Shape 8"/>
          <p:cNvSpPr/>
          <p:nvPr/>
        </p:nvSpPr>
        <p:spPr>
          <a:xfrm>
            <a:off x="6065520" y="1188720"/>
            <a:ext cx="2529840" cy="1463040"/>
          </a:xfrm>
          <a:prstGeom prst="roundRect">
            <a:avLst>
              <a:gd name="adj" fmla="val 6250"/>
            </a:avLst>
          </a:prstGeom>
          <a:solidFill>
            <a:srgbClr val="0A4A4E"/>
          </a:solidFill>
          <a:ln w="12700">
            <a:solidFill>
              <a:srgbClr val="0A4A4E"/>
            </a:solidFill>
            <a:prstDash val="solid"/>
          </a:ln>
        </p:spPr>
      </p:sp>
      <p:sp>
        <p:nvSpPr>
          <p:cNvPr id="11" name="Text 9"/>
          <p:cNvSpPr txBox="1"/>
          <p:nvPr/>
        </p:nvSpPr>
        <p:spPr>
          <a:xfrm>
            <a:off x="6248400" y="1298448"/>
            <a:ext cx="2164080" cy="365760"/>
          </a:xfrm>
          <a:prstGeom prst="rect">
            <a:avLst/>
          </a:prstGeom>
          <a:noFill/>
          <a:ln/>
        </p:spPr>
        <p:txBody>
          <a:bodyPr wrap="square" lIns="0" tIns="0" rIns="0" bIns="0" rtlCol="0" anchor="ctr"/>
          <a:lstStyle/>
          <a:p>
            <a:pPr indent="0" marL="0">
              <a:buNone/>
            </a:pPr>
            <a:r>
              <a:rPr lang="en-US" sz="1400" b="1" dirty="0">
                <a:solidFill>
                  <a:srgbClr val="1FD1A5"/>
                </a:solidFill>
                <a:latin typeface="Calibri" pitchFamily="34" charset="0"/>
                <a:ea typeface="Calibri" pitchFamily="34" charset="-122"/>
                <a:cs typeface="Calibri" pitchFamily="34" charset="-120"/>
              </a:rPr>
              <a:t>Saves Time</a:t>
            </a:r>
            <a:endParaRPr lang="en-US" sz="1400" dirty="0"/>
          </a:p>
        </p:txBody>
      </p:sp>
      <p:sp>
        <p:nvSpPr>
          <p:cNvPr id="12" name="Text 10"/>
          <p:cNvSpPr txBox="1"/>
          <p:nvPr/>
        </p:nvSpPr>
        <p:spPr>
          <a:xfrm>
            <a:off x="6248400" y="1691640"/>
            <a:ext cx="2164080" cy="8686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Quizzes, flashcards and summaries created automatically</a:t>
            </a:r>
            <a:endParaRPr lang="en-US" sz="1150" dirty="0"/>
          </a:p>
        </p:txBody>
      </p:sp>
      <p:sp>
        <p:nvSpPr>
          <p:cNvPr id="13" name="Shape 11"/>
          <p:cNvSpPr/>
          <p:nvPr/>
        </p:nvSpPr>
        <p:spPr>
          <a:xfrm>
            <a:off x="548640" y="2880360"/>
            <a:ext cx="2529840" cy="1463040"/>
          </a:xfrm>
          <a:prstGeom prst="roundRect">
            <a:avLst>
              <a:gd name="adj" fmla="val 6250"/>
            </a:avLst>
          </a:prstGeom>
          <a:solidFill>
            <a:srgbClr val="0A4A4E"/>
          </a:solidFill>
          <a:ln w="12700">
            <a:solidFill>
              <a:srgbClr val="0A4A4E"/>
            </a:solidFill>
            <a:prstDash val="solid"/>
          </a:ln>
        </p:spPr>
      </p:sp>
      <p:sp>
        <p:nvSpPr>
          <p:cNvPr id="14" name="Text 12"/>
          <p:cNvSpPr txBox="1"/>
          <p:nvPr/>
        </p:nvSpPr>
        <p:spPr>
          <a:xfrm>
            <a:off x="731520" y="2990088"/>
            <a:ext cx="2164080" cy="365760"/>
          </a:xfrm>
          <a:prstGeom prst="rect">
            <a:avLst/>
          </a:prstGeom>
          <a:noFill/>
          <a:ln/>
        </p:spPr>
        <p:txBody>
          <a:bodyPr wrap="square" lIns="0" tIns="0" rIns="0" bIns="0" rtlCol="0" anchor="ctr"/>
          <a:lstStyle/>
          <a:p>
            <a:pPr indent="0" marL="0">
              <a:buNone/>
            </a:pPr>
            <a:r>
              <a:rPr lang="en-US" sz="1400" b="1" dirty="0">
                <a:solidFill>
                  <a:srgbClr val="1FD1A5"/>
                </a:solidFill>
                <a:latin typeface="Calibri" pitchFamily="34" charset="0"/>
                <a:ea typeface="Calibri" pitchFamily="34" charset="-122"/>
                <a:cs typeface="Calibri" pitchFamily="34" charset="-120"/>
              </a:rPr>
              <a:t>Clear Progress Tracking</a:t>
            </a:r>
            <a:endParaRPr lang="en-US" sz="1400" dirty="0"/>
          </a:p>
        </p:txBody>
      </p:sp>
      <p:sp>
        <p:nvSpPr>
          <p:cNvPr id="15" name="Text 13"/>
          <p:cNvSpPr txBox="1"/>
          <p:nvPr/>
        </p:nvSpPr>
        <p:spPr>
          <a:xfrm>
            <a:off x="731520" y="3383280"/>
            <a:ext cx="2164080" cy="8686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Strengths and weak areas are always visible</a:t>
            </a:r>
            <a:endParaRPr lang="en-US" sz="1150" dirty="0"/>
          </a:p>
        </p:txBody>
      </p:sp>
      <p:sp>
        <p:nvSpPr>
          <p:cNvPr id="16" name="Shape 14"/>
          <p:cNvSpPr/>
          <p:nvPr/>
        </p:nvSpPr>
        <p:spPr>
          <a:xfrm>
            <a:off x="3307080" y="2880360"/>
            <a:ext cx="2529840" cy="1463040"/>
          </a:xfrm>
          <a:prstGeom prst="roundRect">
            <a:avLst>
              <a:gd name="adj" fmla="val 6250"/>
            </a:avLst>
          </a:prstGeom>
          <a:solidFill>
            <a:srgbClr val="0A4A4E"/>
          </a:solidFill>
          <a:ln w="12700">
            <a:solidFill>
              <a:srgbClr val="0A4A4E"/>
            </a:solidFill>
            <a:prstDash val="solid"/>
          </a:ln>
        </p:spPr>
      </p:sp>
      <p:sp>
        <p:nvSpPr>
          <p:cNvPr id="17" name="Text 15"/>
          <p:cNvSpPr txBox="1"/>
          <p:nvPr/>
        </p:nvSpPr>
        <p:spPr>
          <a:xfrm>
            <a:off x="3489960" y="2990088"/>
            <a:ext cx="2164080" cy="365760"/>
          </a:xfrm>
          <a:prstGeom prst="rect">
            <a:avLst/>
          </a:prstGeom>
          <a:noFill/>
          <a:ln/>
        </p:spPr>
        <p:txBody>
          <a:bodyPr wrap="square" lIns="0" tIns="0" rIns="0" bIns="0" rtlCol="0" anchor="ctr"/>
          <a:lstStyle/>
          <a:p>
            <a:pPr indent="0" marL="0">
              <a:buNone/>
            </a:pPr>
            <a:r>
              <a:rPr lang="en-US" sz="1400" b="1" dirty="0">
                <a:solidFill>
                  <a:srgbClr val="1FD1A5"/>
                </a:solidFill>
                <a:latin typeface="Calibri" pitchFamily="34" charset="0"/>
                <a:ea typeface="Calibri" pitchFamily="34" charset="-122"/>
                <a:cs typeface="Calibri" pitchFamily="34" charset="-120"/>
              </a:rPr>
              <a:t>Better Exam Prep</a:t>
            </a:r>
            <a:endParaRPr lang="en-US" sz="1400" dirty="0"/>
          </a:p>
        </p:txBody>
      </p:sp>
      <p:sp>
        <p:nvSpPr>
          <p:cNvPr id="18" name="Text 16"/>
          <p:cNvSpPr txBox="1"/>
          <p:nvPr/>
        </p:nvSpPr>
        <p:spPr>
          <a:xfrm>
            <a:off x="3489960" y="3383280"/>
            <a:ext cx="2164080" cy="8686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Day-wise study plans and regular practice</a:t>
            </a:r>
            <a:endParaRPr lang="en-US" sz="1150" dirty="0"/>
          </a:p>
        </p:txBody>
      </p:sp>
      <p:sp>
        <p:nvSpPr>
          <p:cNvPr id="19" name="Shape 17"/>
          <p:cNvSpPr/>
          <p:nvPr/>
        </p:nvSpPr>
        <p:spPr>
          <a:xfrm>
            <a:off x="6065520" y="2880360"/>
            <a:ext cx="2529840" cy="1463040"/>
          </a:xfrm>
          <a:prstGeom prst="roundRect">
            <a:avLst>
              <a:gd name="adj" fmla="val 6250"/>
            </a:avLst>
          </a:prstGeom>
          <a:solidFill>
            <a:srgbClr val="0A4A4E"/>
          </a:solidFill>
          <a:ln w="12700">
            <a:solidFill>
              <a:srgbClr val="0A4A4E"/>
            </a:solidFill>
            <a:prstDash val="solid"/>
          </a:ln>
        </p:spPr>
      </p:sp>
      <p:sp>
        <p:nvSpPr>
          <p:cNvPr id="20" name="Text 18"/>
          <p:cNvSpPr txBox="1"/>
          <p:nvPr/>
        </p:nvSpPr>
        <p:spPr>
          <a:xfrm>
            <a:off x="6248400" y="2990088"/>
            <a:ext cx="2164080" cy="365760"/>
          </a:xfrm>
          <a:prstGeom prst="rect">
            <a:avLst/>
          </a:prstGeom>
          <a:noFill/>
          <a:ln/>
        </p:spPr>
        <p:txBody>
          <a:bodyPr wrap="square" lIns="0" tIns="0" rIns="0" bIns="0" rtlCol="0" anchor="ctr"/>
          <a:lstStyle/>
          <a:p>
            <a:pPr indent="0" marL="0">
              <a:buNone/>
            </a:pPr>
            <a:r>
              <a:rPr lang="en-US" sz="1400" b="1" dirty="0">
                <a:solidFill>
                  <a:srgbClr val="1FD1A5"/>
                </a:solidFill>
                <a:latin typeface="Calibri" pitchFamily="34" charset="0"/>
                <a:ea typeface="Calibri" pitchFamily="34" charset="-122"/>
                <a:cs typeface="Calibri" pitchFamily="34" charset="-120"/>
              </a:rPr>
              <a:t>Scalable &amp; Low Cost</a:t>
            </a:r>
            <a:endParaRPr lang="en-US" sz="1400" dirty="0"/>
          </a:p>
        </p:txBody>
      </p:sp>
      <p:sp>
        <p:nvSpPr>
          <p:cNvPr id="21" name="Text 19"/>
          <p:cNvSpPr txBox="1"/>
          <p:nvPr/>
        </p:nvSpPr>
        <p:spPr>
          <a:xfrm>
            <a:off x="6248400" y="3383280"/>
            <a:ext cx="2164080" cy="8686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Gemini API with a cloud database serves many students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33638"/>
        </a:solidFill>
      </p:bgPr>
    </p:bg>
    <p:spTree>
      <p:nvGrpSpPr>
        <p:cNvPr id="1" name=""/>
        <p:cNvGrpSpPr/>
        <p:nvPr/>
      </p:nvGrpSpPr>
      <p:grpSpPr>
        <a:xfrm>
          <a:off x="0" y="0"/>
          <a:ext cx="0" cy="0"/>
          <a:chOff x="0" y="0"/>
          <a:chExt cx="0" cy="0"/>
        </a:xfrm>
      </p:grpSpPr>
      <p:sp>
        <p:nvSpPr>
          <p:cNvPr id="2" name="Shape 0"/>
          <p:cNvSpPr/>
          <p:nvPr/>
        </p:nvSpPr>
        <p:spPr>
          <a:xfrm>
            <a:off x="-1371600" y="-2194560"/>
            <a:ext cx="4206240" cy="4206240"/>
          </a:xfrm>
          <a:prstGeom prst="ellipse">
            <a:avLst/>
          </a:prstGeom>
          <a:solidFill>
            <a:srgbClr val="00515C"/>
          </a:solidFill>
          <a:ln w="12700">
            <a:solidFill>
              <a:srgbClr val="00515C"/>
            </a:solidFill>
            <a:prstDash val="solid"/>
          </a:ln>
        </p:spPr>
      </p:sp>
      <p:sp>
        <p:nvSpPr>
          <p:cNvPr id="3" name="Shape 1"/>
          <p:cNvSpPr/>
          <p:nvPr/>
        </p:nvSpPr>
        <p:spPr>
          <a:xfrm>
            <a:off x="6766560" y="3108960"/>
            <a:ext cx="4206240" cy="4206240"/>
          </a:xfrm>
          <a:prstGeom prst="ellipse">
            <a:avLst/>
          </a:prstGeom>
          <a:solidFill>
            <a:srgbClr val="00605A"/>
          </a:solidFill>
          <a:ln w="12700">
            <a:solidFill>
              <a:srgbClr val="00605A"/>
            </a:solidFill>
            <a:prstDash val="solid"/>
          </a:ln>
        </p:spPr>
      </p:sp>
      <p:sp>
        <p:nvSpPr>
          <p:cNvPr id="4" name="Text 2"/>
          <p:cNvSpPr txBox="1"/>
          <p:nvPr/>
        </p:nvSpPr>
        <p:spPr>
          <a:xfrm>
            <a:off x="914400" y="1828800"/>
            <a:ext cx="7315200" cy="82296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Thank You</a:t>
            </a:r>
            <a:endParaRPr lang="en-US" sz="4000" dirty="0"/>
          </a:p>
        </p:txBody>
      </p:sp>
      <p:sp>
        <p:nvSpPr>
          <p:cNvPr id="5" name="Text 3"/>
          <p:cNvSpPr txBox="1"/>
          <p:nvPr/>
        </p:nvSpPr>
        <p:spPr>
          <a:xfrm>
            <a:off x="914400" y="2697480"/>
            <a:ext cx="7315200" cy="365760"/>
          </a:xfrm>
          <a:prstGeom prst="rect">
            <a:avLst/>
          </a:prstGeom>
          <a:noFill/>
          <a:ln/>
        </p:spPr>
        <p:txBody>
          <a:bodyPr wrap="square" rtlCol="0" anchor="ctr"/>
          <a:lstStyle/>
          <a:p>
            <a:pPr algn="ctr" indent="0" marL="0">
              <a:buNone/>
            </a:pPr>
            <a:r>
              <a:rPr lang="en-US" sz="1600" i="1" dirty="0">
                <a:solidFill>
                  <a:srgbClr val="1FD1A5"/>
                </a:solidFill>
                <a:latin typeface="Calibri" pitchFamily="34" charset="0"/>
                <a:ea typeface="Calibri" pitchFamily="34" charset="-122"/>
                <a:cs typeface="Calibri" pitchFamily="34" charset="-120"/>
              </a:rPr>
              <a:t>Questions &amp; Feedback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2026-09-28T06:06:06Z</dcterms:created>
  <dcterms:modified xsi:type="dcterms:W3CDTF">2026-09-28T06:06:06Z</dcterms:modified>
</cp:coreProperties>
</file>